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5" d="100"/>
          <a:sy n="65" d="100"/>
        </p:scale>
        <p:origin x="724" y="60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7128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8517634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D060B81-BE75-4BE1-9D91-65DFB2F2E26C}" type="datetimeFigureOut">
              <a:rPr lang="en-US"/>
              <a:t>7/22/2026</a:t>
            </a:fld>
            <a:endParaRPr lang="en-US"/>
          </a:p>
        </p:txBody>
      </p:sp>
      <p:sp>
        <p:nvSpPr>
          <p:cNvPr id="165890770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27054294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7408101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5743350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1D9B4FB-2BC0-44FC-99B6-DAE75438B50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595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60239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1899151" name="Slide Number Placeholder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21D9B4FB-2BC0-44FC-99B6-DAE75438B50B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70D91B-8005-873A-B343-2A49CC196F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97E8BB-2462-2555-3D09-8C1F60A415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17A47B-475D-C220-4413-A8FC7233D90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9FB0026-273B-9456-9748-B9C79135076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10F840-A9F6-27B2-791B-9D3A7933CD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7BE654-DDCC-F8FB-CB4C-E09775E70A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0695A2-CE47-390F-B5EC-B3BC36ED3A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BA3B1-6134-3007-E1CE-44820B6693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2A39C5-911E-7E1D-446C-A63932CEDE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CC878C-498A-CB74-20F7-FC3E5030D4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BD695B-FCDA-ECB1-62A1-CCEDDB148D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6F3A8C-2196-FB44-69AC-153D92FA4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213408068" name="Group 6"/>
          <p:cNvGrpSpPr/>
          <p:nvPr/>
        </p:nvGrpSpPr>
        <p:grpSpPr bwMode="auto">
          <a:xfrm>
            <a:off x="0" y="-8467"/>
            <a:ext cx="12192000" cy="6866466"/>
            <a:chOff x="0" y="-8467"/>
            <a:chExt cx="12192000" cy="6866466"/>
          </a:xfrm>
        </p:grpSpPr>
        <p:cxnSp>
          <p:nvCxnSpPr>
            <p:cNvPr id="32" name="Straight Connector 31"/>
            <p:cNvCxnSpPr/>
            <p:nvPr/>
          </p:nvCxnSpPr>
          <p:spPr bwMode="auto"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auto"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 bwMode="auto">
            <a:xfrm>
              <a:off x="9181476" y="-8467"/>
              <a:ext cx="3007349" cy="6866466"/>
            </a:xfrm>
            <a:custGeom>
              <a:avLst/>
              <a:gdLst/>
              <a:ahLst/>
              <a:cxnLst/>
              <a:rect l="l" t="t" r="r" b="b"/>
              <a:pathLst>
                <a:path w="3007349" h="6866467" fill="norm" stroke="1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 bwMode="auto">
            <a:xfrm>
              <a:off x="9603442" y="-8467"/>
              <a:ext cx="2588558" cy="6866466"/>
            </a:xfrm>
            <a:custGeom>
              <a:avLst/>
              <a:gdLst/>
              <a:ahLst/>
              <a:cxnLst/>
              <a:rect l="l" t="t" r="r" b="b"/>
              <a:pathLst>
                <a:path w="2573311" h="6866467" fill="norm" stroke="1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 bwMode="auto">
            <a:xfrm>
              <a:off x="8932333" y="3048000"/>
              <a:ext cx="3259666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 bwMode="auto">
            <a:xfrm>
              <a:off x="9334500" y="-8467"/>
              <a:ext cx="2854326" cy="6866466"/>
            </a:xfrm>
            <a:custGeom>
              <a:avLst/>
              <a:gdLst/>
              <a:ahLst/>
              <a:cxnLst/>
              <a:rect l="l" t="t" r="r" b="b"/>
              <a:pathLst>
                <a:path w="2858013" h="6866467" fill="norm" stroke="1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 bwMode="auto">
            <a:xfrm>
              <a:off x="10898730" y="-8467"/>
              <a:ext cx="1290094" cy="6866466"/>
            </a:xfrm>
            <a:custGeom>
              <a:avLst/>
              <a:gdLst/>
              <a:ahLst/>
              <a:cxnLst/>
              <a:rect l="l" t="t" r="r" b="b"/>
              <a:pathLst>
                <a:path w="1290094" h="6858000" fill="norm" stroke="1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 bwMode="auto">
            <a:xfrm>
              <a:off x="10938999" y="-8467"/>
              <a:ext cx="1249825" cy="6866466"/>
            </a:xfrm>
            <a:custGeom>
              <a:avLst/>
              <a:gdLst/>
              <a:ahLst/>
              <a:cxnLst/>
              <a:rect l="l" t="t" r="r" b="b"/>
              <a:pathLst>
                <a:path w="1249825" h="6858000" fill="norm" stroke="1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 bwMode="auto">
            <a:xfrm>
              <a:off x="10371666" y="3589867"/>
              <a:ext cx="1817158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 bwMode="auto"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617067956" name="Title 1"/>
          <p:cNvSpPr>
            <a:spLocks noGrp="1"/>
          </p:cNvSpPr>
          <p:nvPr>
            <p:ph type="ctrTitle"/>
          </p:nvPr>
        </p:nvSpPr>
        <p:spPr bwMode="auto"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6426626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2270826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E35E17-5A81-4CD0-A1C6-A42C6A7D6CCB}" type="datetimeFigureOut">
              <a:rPr lang="en-US"/>
              <a:t>7/22/2026</a:t>
            </a:fld>
            <a:endParaRPr lang="en-US"/>
          </a:p>
        </p:txBody>
      </p:sp>
      <p:sp>
        <p:nvSpPr>
          <p:cNvPr id="53843971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3486778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035880-997A-456B-8248-51FE91E46A0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1827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rmAutofit/>
          </a:bodyPr>
          <a:lstStyle>
            <a:lvl1pPr>
              <a:defRPr sz="36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132198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80614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E35E17-5A81-4CD0-A1C6-A42C6A7D6CCB}" type="datetimeFigureOut">
              <a:rPr lang="en-US"/>
              <a:t>7/22/2026</a:t>
            </a:fld>
            <a:endParaRPr lang="en-US"/>
          </a:p>
        </p:txBody>
      </p:sp>
      <p:sp>
        <p:nvSpPr>
          <p:cNvPr id="1613327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0454840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035880-997A-456B-8248-51FE91E46A0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5521593" name="Title 1"/>
          <p:cNvSpPr>
            <a:spLocks noGrp="1"/>
          </p:cNvSpPr>
          <p:nvPr>
            <p:ph type="title"/>
          </p:nvPr>
        </p:nvSpPr>
        <p:spPr bwMode="auto"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038497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758340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E35E17-5A81-4CD0-A1C6-A42C6A7D6CCB}" type="datetimeFigureOut">
              <a:rPr lang="en-US"/>
              <a:t>7/22/2026</a:t>
            </a:fld>
            <a:endParaRPr lang="en-US"/>
          </a:p>
        </p:txBody>
      </p:sp>
      <p:sp>
        <p:nvSpPr>
          <p:cNvPr id="20600523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86856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035880-997A-456B-8248-51FE91E46A0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8639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646083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77334" y="2160589"/>
            <a:ext cx="4184035" cy="388077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8603471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089970" y="2160589"/>
            <a:ext cx="4184034" cy="3880773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8762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E35E17-5A81-4CD0-A1C6-A42C6A7D6CCB}" type="datetimeFigureOut">
              <a:rPr lang="en-US"/>
              <a:t>7/22/2026</a:t>
            </a:fld>
            <a:endParaRPr lang="en-US"/>
          </a:p>
        </p:txBody>
      </p:sp>
      <p:sp>
        <p:nvSpPr>
          <p:cNvPr id="39219792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6052085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035880-997A-456B-8248-51FE91E46A0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2197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45538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155777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555124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5027111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1268814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E35E17-5A81-4CD0-A1C6-A42C6A7D6CCB}" type="datetimeFigureOut">
              <a:rPr lang="en-US"/>
              <a:t>7/22/2026</a:t>
            </a:fld>
            <a:endParaRPr lang="en-US"/>
          </a:p>
        </p:txBody>
      </p:sp>
      <p:sp>
        <p:nvSpPr>
          <p:cNvPr id="95645560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2343977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035880-997A-456B-8248-51FE91E46A0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489193" name="Title 1"/>
          <p:cNvSpPr>
            <a:spLocks noGrp="1"/>
          </p:cNvSpPr>
          <p:nvPr>
            <p:ph type="title"/>
          </p:nvPr>
        </p:nvSpPr>
        <p:spPr bwMode="auto">
          <a:xfrm>
            <a:off x="677334" y="609600"/>
            <a:ext cx="8596668" cy="1320800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04813554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E35E17-5A81-4CD0-A1C6-A42C6A7D6CCB}" type="datetimeFigureOut">
              <a:rPr lang="en-US"/>
              <a:t>7/22/2026</a:t>
            </a:fld>
            <a:endParaRPr lang="en-US"/>
          </a:p>
        </p:txBody>
      </p:sp>
      <p:sp>
        <p:nvSpPr>
          <p:cNvPr id="141328486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6445281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035880-997A-456B-8248-51FE91E46A0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056774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E35E17-5A81-4CD0-A1C6-A42C6A7D6CCB}" type="datetimeFigureOut">
              <a:rPr lang="en-US"/>
              <a:t>7/22/2026</a:t>
            </a:fld>
            <a:endParaRPr lang="en-US"/>
          </a:p>
        </p:txBody>
      </p:sp>
      <p:sp>
        <p:nvSpPr>
          <p:cNvPr id="206283943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0897500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035880-997A-456B-8248-51FE91E46A0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8727906" name="Title 1"/>
          <p:cNvSpPr>
            <a:spLocks noGrp="1"/>
          </p:cNvSpPr>
          <p:nvPr>
            <p:ph type="title"/>
          </p:nvPr>
        </p:nvSpPr>
        <p:spPr bwMode="auto"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22825701" name="Content Placeholder 2"/>
          <p:cNvSpPr>
            <a:spLocks noGrp="1"/>
          </p:cNvSpPr>
          <p:nvPr>
            <p:ph idx="1"/>
          </p:nvPr>
        </p:nvSpPr>
        <p:spPr bwMode="auto"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6232375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2478488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E35E17-5A81-4CD0-A1C6-A42C6A7D6CCB}" type="datetimeFigureOut">
              <a:rPr lang="en-US"/>
              <a:t>7/22/2026</a:t>
            </a:fld>
            <a:endParaRPr lang="en-US"/>
          </a:p>
        </p:txBody>
      </p:sp>
      <p:sp>
        <p:nvSpPr>
          <p:cNvPr id="192410928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928662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035880-997A-456B-8248-51FE91E46A0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7404480" name="Title 1"/>
          <p:cNvSpPr>
            <a:spLocks noGrp="1"/>
          </p:cNvSpPr>
          <p:nvPr>
            <p:ph type="title"/>
          </p:nvPr>
        </p:nvSpPr>
        <p:spPr bwMode="auto"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9713792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8118670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412210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E35E17-5A81-4CD0-A1C6-A42C6A7D6CCB}" type="datetimeFigureOut">
              <a:rPr lang="en-US"/>
              <a:t>7/22/2026</a:t>
            </a:fld>
            <a:endParaRPr lang="en-US"/>
          </a:p>
        </p:txBody>
      </p:sp>
      <p:sp>
        <p:nvSpPr>
          <p:cNvPr id="62996975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73809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035880-997A-456B-8248-51FE91E46A0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666947" name="Title 1"/>
          <p:cNvSpPr>
            <a:spLocks noGrp="1"/>
          </p:cNvSpPr>
          <p:nvPr>
            <p:ph type="title"/>
          </p:nvPr>
        </p:nvSpPr>
        <p:spPr bwMode="auto"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96012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3246291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E35E17-5A81-4CD0-A1C6-A42C6A7D6CCB}" type="datetimeFigureOut">
              <a:rPr lang="en-US"/>
              <a:t>7/22/2026</a:t>
            </a:fld>
            <a:endParaRPr lang="en-US"/>
          </a:p>
        </p:txBody>
      </p:sp>
      <p:sp>
        <p:nvSpPr>
          <p:cNvPr id="205186907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4361355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035880-997A-456B-8248-51FE91E46A0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225170" name="Title 1"/>
          <p:cNvSpPr>
            <a:spLocks noGrp="1"/>
          </p:cNvSpPr>
          <p:nvPr>
            <p:ph type="title"/>
          </p:nvPr>
        </p:nvSpPr>
        <p:spPr bwMode="auto"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05543435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3402458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7186176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E35E17-5A81-4CD0-A1C6-A42C6A7D6CCB}" type="datetimeFigureOut">
              <a:rPr lang="en-US"/>
              <a:t>7/22/2026</a:t>
            </a:fld>
            <a:endParaRPr lang="en-US"/>
          </a:p>
        </p:txBody>
      </p:sp>
      <p:sp>
        <p:nvSpPr>
          <p:cNvPr id="143788836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89173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035880-997A-456B-8248-51FE91E46A08}" type="slidenum">
              <a:rPr lang="en-US"/>
              <a:t>‹#›</a:t>
            </a:fld>
            <a:endParaRPr lang="en-US"/>
          </a:p>
        </p:txBody>
      </p:sp>
      <p:sp>
        <p:nvSpPr>
          <p:cNvPr id="1572244507" name="TextBox 19"/>
          <p:cNvSpPr txBox="1"/>
          <p:nvPr/>
        </p:nvSpPr>
        <p:spPr bwMode="auto">
          <a:xfrm>
            <a:off x="541870" y="790378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  <a:endParaRPr/>
          </a:p>
        </p:txBody>
      </p:sp>
      <p:sp>
        <p:nvSpPr>
          <p:cNvPr id="1855874215" name="TextBox 21"/>
          <p:cNvSpPr txBox="1"/>
          <p:nvPr/>
        </p:nvSpPr>
        <p:spPr bwMode="auto">
          <a:xfrm>
            <a:off x="8893011" y="2886556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9344846" name="Title 1"/>
          <p:cNvSpPr>
            <a:spLocks noGrp="1"/>
          </p:cNvSpPr>
          <p:nvPr>
            <p:ph type="title"/>
          </p:nvPr>
        </p:nvSpPr>
        <p:spPr bwMode="auto"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2834425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920516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E35E17-5A81-4CD0-A1C6-A42C6A7D6CCB}" type="datetimeFigureOut">
              <a:rPr lang="en-US"/>
              <a:t>7/22/2026</a:t>
            </a:fld>
            <a:endParaRPr lang="en-US"/>
          </a:p>
        </p:txBody>
      </p:sp>
      <p:sp>
        <p:nvSpPr>
          <p:cNvPr id="11589545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9783437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035880-997A-456B-8248-51FE91E46A0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072730" name="Title 1"/>
          <p:cNvSpPr>
            <a:spLocks noGrp="1"/>
          </p:cNvSpPr>
          <p:nvPr>
            <p:ph type="title"/>
          </p:nvPr>
        </p:nvSpPr>
        <p:spPr bwMode="auto"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97692018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7658429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079152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E35E17-5A81-4CD0-A1C6-A42C6A7D6CCB}" type="datetimeFigureOut">
              <a:rPr lang="en-US"/>
              <a:t>7/22/2026</a:t>
            </a:fld>
            <a:endParaRPr lang="en-US"/>
          </a:p>
        </p:txBody>
      </p:sp>
      <p:sp>
        <p:nvSpPr>
          <p:cNvPr id="43730321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458375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035880-997A-456B-8248-51FE91E46A08}" type="slidenum">
              <a:rPr lang="en-US"/>
              <a:t>‹#›</a:t>
            </a:fld>
            <a:endParaRPr lang="en-US"/>
          </a:p>
        </p:txBody>
      </p:sp>
      <p:sp>
        <p:nvSpPr>
          <p:cNvPr id="1573799147" name="TextBox 23"/>
          <p:cNvSpPr txBox="1"/>
          <p:nvPr/>
        </p:nvSpPr>
        <p:spPr bwMode="auto">
          <a:xfrm>
            <a:off x="541870" y="790378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  <a:endParaRPr/>
          </a:p>
        </p:txBody>
      </p:sp>
      <p:sp>
        <p:nvSpPr>
          <p:cNvPr id="328247894" name="TextBox 24"/>
          <p:cNvSpPr txBox="1"/>
          <p:nvPr/>
        </p:nvSpPr>
        <p:spPr bwMode="auto">
          <a:xfrm>
            <a:off x="8893011" y="2886556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rue or Fal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1630619" name="Title 1"/>
          <p:cNvSpPr>
            <a:spLocks noGrp="1"/>
          </p:cNvSpPr>
          <p:nvPr>
            <p:ph type="title"/>
          </p:nvPr>
        </p:nvSpPr>
        <p:spPr bwMode="auto"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1640880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5377882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0535822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E35E17-5A81-4CD0-A1C6-A42C6A7D6CCB}" type="datetimeFigureOut">
              <a:rPr lang="en-US"/>
              <a:t>7/22/2026</a:t>
            </a:fld>
            <a:endParaRPr lang="en-US"/>
          </a:p>
        </p:txBody>
      </p:sp>
      <p:sp>
        <p:nvSpPr>
          <p:cNvPr id="2955018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449860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035880-997A-456B-8248-51FE91E46A0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7512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9394740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43676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E35E17-5A81-4CD0-A1C6-A42C6A7D6CCB}" type="datetimeFigureOut">
              <a:rPr lang="en-US"/>
              <a:t>7/22/2026</a:t>
            </a:fld>
            <a:endParaRPr lang="en-US"/>
          </a:p>
        </p:txBody>
      </p:sp>
      <p:sp>
        <p:nvSpPr>
          <p:cNvPr id="153342779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5140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035880-997A-456B-8248-51FE91E46A0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27453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7967673" y="609599"/>
            <a:ext cx="1304743" cy="5251451"/>
          </a:xfrm>
        </p:spPr>
        <p:txBody>
          <a:bodyPr vert="eaVert" anchor="ctr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5545375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77335" y="609600"/>
            <a:ext cx="7060150" cy="5251450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56834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6E35E17-5A81-4CD0-A1C6-A42C6A7D6CCB}" type="datetimeFigureOut">
              <a:rPr lang="en-US"/>
              <a:t>7/22/2026</a:t>
            </a:fld>
            <a:endParaRPr lang="en-US"/>
          </a:p>
        </p:txBody>
      </p:sp>
      <p:sp>
        <p:nvSpPr>
          <p:cNvPr id="50367643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3369878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3035880-997A-456B-8248-51FE91E46A0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41933742" name="Group 6"/>
          <p:cNvGrpSpPr/>
          <p:nvPr/>
        </p:nvGrpSpPr>
        <p:grpSpPr bwMode="auto">
          <a:xfrm>
            <a:off x="0" y="-8467"/>
            <a:ext cx="12192000" cy="6866466"/>
            <a:chOff x="0" y="-8467"/>
            <a:chExt cx="12192000" cy="6866466"/>
          </a:xfrm>
        </p:grpSpPr>
        <p:cxnSp>
          <p:nvCxnSpPr>
            <p:cNvPr id="20" name="Straight Connector 19"/>
            <p:cNvCxnSpPr/>
            <p:nvPr/>
          </p:nvCxnSpPr>
          <p:spPr bwMode="auto"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auto"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 bwMode="auto">
            <a:xfrm>
              <a:off x="9181476" y="-8467"/>
              <a:ext cx="3007349" cy="6866466"/>
            </a:xfrm>
            <a:custGeom>
              <a:avLst/>
              <a:gdLst/>
              <a:ahLst/>
              <a:cxnLst/>
              <a:rect l="l" t="t" r="r" b="b"/>
              <a:pathLst>
                <a:path w="3007349" h="6866467" fill="norm" stroke="1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 bwMode="auto">
            <a:xfrm>
              <a:off x="9603442" y="-8467"/>
              <a:ext cx="2588558" cy="6866466"/>
            </a:xfrm>
            <a:custGeom>
              <a:avLst/>
              <a:gdLst/>
              <a:ahLst/>
              <a:cxnLst/>
              <a:rect l="l" t="t" r="r" b="b"/>
              <a:pathLst>
                <a:path w="2573311" h="6866467" fill="norm" stroke="1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 bwMode="auto">
            <a:xfrm>
              <a:off x="8932333" y="3048000"/>
              <a:ext cx="3259666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 bwMode="auto">
            <a:xfrm>
              <a:off x="9334500" y="-8467"/>
              <a:ext cx="2854326" cy="6866466"/>
            </a:xfrm>
            <a:custGeom>
              <a:avLst/>
              <a:gdLst/>
              <a:ahLst/>
              <a:cxnLst/>
              <a:rect l="l" t="t" r="r" b="b"/>
              <a:pathLst>
                <a:path w="2858013" h="6866467" fill="norm" stroke="1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 bwMode="auto">
            <a:xfrm>
              <a:off x="10898730" y="-8467"/>
              <a:ext cx="1290094" cy="6866466"/>
            </a:xfrm>
            <a:custGeom>
              <a:avLst/>
              <a:gdLst/>
              <a:ahLst/>
              <a:cxnLst/>
              <a:rect l="l" t="t" r="r" b="b"/>
              <a:pathLst>
                <a:path w="1290094" h="6858000" fill="norm" stroke="1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 bwMode="auto">
            <a:xfrm>
              <a:off x="10938999" y="-8467"/>
              <a:ext cx="1249825" cy="6866466"/>
            </a:xfrm>
            <a:custGeom>
              <a:avLst/>
              <a:gdLst/>
              <a:ahLst/>
              <a:cxnLst/>
              <a:rect l="l" t="t" r="r" b="b"/>
              <a:pathLst>
                <a:path w="1249825" h="6858000" fill="norm" stroke="1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 bwMode="auto">
            <a:xfrm>
              <a:off x="10371666" y="3589867"/>
              <a:ext cx="1817158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 bwMode="auto"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608463899" name="Title Placeholder 1"/>
          <p:cNvSpPr>
            <a:spLocks noGrp="1"/>
          </p:cNvSpPr>
          <p:nvPr>
            <p:ph type="title"/>
          </p:nvPr>
        </p:nvSpPr>
        <p:spPr bwMode="auto"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130625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26876372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6E35E17-5A81-4CD0-A1C6-A42C6A7D6CCB}" type="datetimeFigureOut">
              <a:rPr lang="en-US"/>
              <a:t>7/22/2026</a:t>
            </a:fld>
            <a:endParaRPr lang="en-US"/>
          </a:p>
        </p:txBody>
      </p:sp>
      <p:sp>
        <p:nvSpPr>
          <p:cNvPr id="6231962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677334" y="6041362"/>
            <a:ext cx="62976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30464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23035880-997A-456B-8248-51FE91E46A08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>
        <a:spcBef>
          <a:spcPts val="0"/>
        </a:spcBef>
        <a:buNone/>
        <a:defRPr sz="3600">
          <a:solidFill>
            <a:schemeClr val="accent1"/>
          </a:solidFill>
          <a:latin typeface="+mj-lt"/>
          <a:ea typeface="+mj-ea"/>
          <a:cs typeface="+mj-cs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342900" indent="-342900" algn="l" defTabSz="457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hyperlink" Target="mailto:support@codealpha-security.com" TargetMode="External"/><Relationship Id="rId4" Type="http://schemas.openxmlformats.org/officeDocument/2006/relationships/hyperlink" Target="https://codealpha-verify-login.com/" TargetMode="External"/><Relationship Id="rId5" Type="http://schemas.openxmlformats.org/officeDocument/2006/relationships/image" Target="../media/image1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12371" name="Title 3"/>
          <p:cNvSpPr>
            <a:spLocks noGrp="1"/>
          </p:cNvSpPr>
          <p:nvPr>
            <p:ph type="title" idx="4294967295"/>
          </p:nvPr>
        </p:nvSpPr>
        <p:spPr bwMode="auto">
          <a:xfrm>
            <a:off x="0" y="142241"/>
            <a:ext cx="9566787" cy="671576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en-US" sz="3200" b="1">
                <a:latin typeface="Times New Roman"/>
                <a:cs typeface="Times New Roman"/>
              </a:rPr>
              <a:t>CodeAlpha</a:t>
            </a:r>
            <a:r>
              <a:rPr lang="en-US" sz="3200" b="1">
                <a:latin typeface="Times New Roman"/>
                <a:cs typeface="Times New Roman"/>
              </a:rPr>
              <a:t> Cybersecurity Internship</a:t>
            </a:r>
            <a:br>
              <a:rPr lang="en-US" sz="3200" b="1">
                <a:latin typeface="Times New Roman"/>
                <a:cs typeface="Times New Roman"/>
              </a:rPr>
            </a:br>
            <a:br>
              <a:rPr lang="en-US" sz="3200" b="1">
                <a:latin typeface="Times New Roman"/>
                <a:cs typeface="Times New Roman"/>
              </a:rPr>
            </a:br>
            <a:r>
              <a:rPr lang="en-US" sz="3200" b="1">
                <a:latin typeface="Times New Roman"/>
                <a:cs typeface="Times New Roman"/>
              </a:rPr>
              <a:t>Task 2: </a:t>
            </a:r>
            <a:br>
              <a:rPr lang="en-US" sz="3200" b="1">
                <a:latin typeface="Times New Roman"/>
                <a:cs typeface="Times New Roman"/>
              </a:rPr>
            </a:br>
            <a:r>
              <a:rPr lang="en-US" sz="3200">
                <a:latin typeface="Times New Roman"/>
                <a:cs typeface="Times New Roman"/>
              </a:rPr>
              <a:t>🎣</a:t>
            </a:r>
            <a:r>
              <a:rPr lang="en-US" sz="3200" b="1">
                <a:latin typeface="Times New Roman"/>
                <a:cs typeface="Times New Roman"/>
              </a:rPr>
              <a:t>Phishing Awareness Training</a:t>
            </a:r>
            <a:br>
              <a:rPr lang="en-US" sz="3200" b="1">
                <a:latin typeface="Times New Roman"/>
                <a:cs typeface="Times New Roman"/>
              </a:rPr>
            </a:br>
            <a:br>
              <a:rPr lang="en-US" sz="3200" b="1">
                <a:latin typeface="Times New Roman"/>
                <a:cs typeface="Times New Roman"/>
              </a:rPr>
            </a:br>
            <a:br>
              <a:rPr lang="en-US" sz="3200" b="1">
                <a:latin typeface="Times New Roman"/>
                <a:cs typeface="Times New Roman"/>
              </a:rPr>
            </a:br>
            <a:r>
              <a:rPr lang="en-US" sz="3200" b="1">
                <a:latin typeface="Times New Roman"/>
                <a:cs typeface="Times New Roman"/>
              </a:rPr>
              <a:t>Prepared by</a:t>
            </a:r>
            <a:br>
              <a:rPr lang="en-US" sz="3200" b="1">
                <a:latin typeface="Times New Roman"/>
                <a:cs typeface="Times New Roman"/>
              </a:rPr>
            </a:br>
            <a:r>
              <a:rPr lang="en" sz="3200" i="1" spc="-149">
                <a:latin typeface="Times New Roman"/>
                <a:cs typeface="Times New Roman"/>
              </a:rPr>
              <a:t>Karl Seyram Dorpe</a:t>
            </a:r>
            <a:br>
              <a:rPr lang="en-US" sz="3200" i="1" spc="-150">
                <a:latin typeface="Times New Roman"/>
                <a:cs typeface="Times New Roman"/>
              </a:rPr>
            </a:br>
            <a:r>
              <a:rPr lang="en" sz="3200" i="1">
                <a:solidFill>
                  <a:schemeClr val="bg2">
                    <a:lumMod val="75000"/>
                  </a:schemeClr>
                </a:solidFill>
                <a:latin typeface="Times New Roman"/>
                <a:cs typeface="Times New Roman"/>
              </a:rPr>
              <a:t>SOC Analyst</a:t>
            </a:r>
            <a:br>
              <a:rPr lang="en-US" sz="3200" i="1">
                <a:solidFill>
                  <a:schemeClr val="tx1"/>
                </a:solidFill>
                <a:latin typeface="Times New Roman"/>
                <a:cs typeface="Times New Roman"/>
              </a:rPr>
            </a:br>
            <a:br>
              <a:rPr lang="en-US" sz="3200" i="1">
                <a:latin typeface="Times New Roman"/>
                <a:cs typeface="Times New Roman"/>
              </a:rPr>
            </a:br>
            <a:r>
              <a:rPr lang="en-US" sz="3200" b="1" i="1">
                <a:latin typeface="Times New Roman"/>
                <a:cs typeface="Times New Roman"/>
              </a:rPr>
              <a:t>Date</a:t>
            </a:r>
            <a:br>
              <a:rPr lang="en-US" sz="3200" b="1" i="1">
                <a:latin typeface="Times New Roman"/>
                <a:cs typeface="Times New Roman"/>
              </a:rPr>
            </a:br>
            <a:r>
              <a:rPr lang="en" sz="3200" i="1">
                <a:latin typeface="Times New Roman"/>
                <a:cs typeface="Times New Roman"/>
              </a:rPr>
              <a:t>October 2026</a:t>
            </a:r>
            <a:endParaRPr/>
          </a:p>
        </p:txBody>
      </p:sp>
      <p:pic>
        <p:nvPicPr>
          <p:cNvPr id="1101385592" name="Content Placeholder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850598" y="4574771"/>
            <a:ext cx="2937044" cy="17845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7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319830" name="Title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 b="1">
                <a:latin typeface="Times New Roman"/>
                <a:cs typeface="Times New Roman"/>
              </a:rPr>
              <a:t>Training Objectives</a:t>
            </a:r>
            <a:endParaRPr/>
          </a:p>
        </p:txBody>
      </p:sp>
      <p:sp>
        <p:nvSpPr>
          <p:cNvPr id="718650570" name="Content Placeholder 4"/>
          <p:cNvSpPr>
            <a:spLocks noGrp="1"/>
          </p:cNvSpPr>
          <p:nvPr>
            <p:ph idx="1"/>
          </p:nvPr>
        </p:nvSpPr>
        <p:spPr bwMode="auto">
          <a:xfrm>
            <a:off x="677334" y="1494503"/>
            <a:ext cx="8596668" cy="454685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sz="2000"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en-US" sz="2000">
                <a:latin typeface="Times New Roman"/>
                <a:cs typeface="Times New Roman"/>
              </a:rPr>
              <a:t>✔ Understand phishing attacks</a:t>
            </a:r>
            <a:endParaRPr/>
          </a:p>
          <a:p>
            <a:pPr marL="0" indent="0">
              <a:buNone/>
              <a:defRPr/>
            </a:pPr>
            <a:endParaRPr lang="en-US" sz="2000"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en-US" sz="2000">
                <a:latin typeface="Times New Roman"/>
                <a:cs typeface="Times New Roman"/>
              </a:rPr>
              <a:t>✔ Identify phishing emails</a:t>
            </a:r>
            <a:endParaRPr/>
          </a:p>
          <a:p>
            <a:pPr marL="0" indent="0">
              <a:buNone/>
              <a:defRPr/>
            </a:pPr>
            <a:endParaRPr lang="en-US" sz="2000"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en-US" sz="2000">
                <a:latin typeface="Times New Roman"/>
                <a:cs typeface="Times New Roman"/>
              </a:rPr>
              <a:t>✔ Recognize fake websites</a:t>
            </a:r>
            <a:endParaRPr/>
          </a:p>
          <a:p>
            <a:pPr marL="0" indent="0">
              <a:buNone/>
              <a:defRPr/>
            </a:pPr>
            <a:endParaRPr lang="en-US" sz="2000"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en-US" sz="2000">
                <a:latin typeface="Times New Roman"/>
                <a:cs typeface="Times New Roman"/>
              </a:rPr>
              <a:t>✔ Understand social engineering</a:t>
            </a:r>
            <a:endParaRPr/>
          </a:p>
          <a:p>
            <a:pPr marL="0" indent="0">
              <a:buNone/>
              <a:defRPr/>
            </a:pPr>
            <a:endParaRPr lang="en-US" sz="2000"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en-US" sz="2000">
                <a:latin typeface="Times New Roman"/>
                <a:cs typeface="Times New Roman"/>
              </a:rPr>
              <a:t>✔ Learn how to stay safe online</a:t>
            </a:r>
            <a:endParaRPr/>
          </a:p>
        </p:txBody>
      </p:sp>
      <p:pic>
        <p:nvPicPr>
          <p:cNvPr id="913536943" name="Content Placeholder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999883" y="3907403"/>
            <a:ext cx="2274119" cy="21339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400" advClick="1">
        <p14:ripple dir="center"/>
      </p:transition>
    </mc:Choice>
    <mc:Fallback>
      <p:transition spd="slow" advClick="1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9682909" name="Title 1"/>
          <p:cNvSpPr>
            <a:spLocks noGrp="1"/>
          </p:cNvSpPr>
          <p:nvPr>
            <p:ph type="title"/>
          </p:nvPr>
        </p:nvSpPr>
        <p:spPr bwMode="auto">
          <a:xfrm>
            <a:off x="677334" y="609600"/>
            <a:ext cx="8596668" cy="83574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b="1">
                <a:latin typeface="Times New Roman"/>
                <a:cs typeface="Times New Roman"/>
              </a:rPr>
              <a:t>What is Phishing? </a:t>
            </a:r>
            <a:r>
              <a:rPr lang="en-US"/>
              <a:t>🎣</a:t>
            </a:r>
            <a:br>
              <a:rPr lang="en-US" b="1">
                <a:latin typeface="Times New Roman"/>
                <a:cs typeface="Times New Roman"/>
              </a:rPr>
            </a:br>
            <a:endParaRPr lang="en-US" b="1">
              <a:latin typeface="Times New Roman"/>
              <a:cs typeface="Times New Roman"/>
            </a:endParaRPr>
          </a:p>
        </p:txBody>
      </p:sp>
      <p:sp>
        <p:nvSpPr>
          <p:cNvPr id="463945842" name="Content Placeholder 2"/>
          <p:cNvSpPr>
            <a:spLocks noGrp="1"/>
          </p:cNvSpPr>
          <p:nvPr>
            <p:ph idx="1"/>
          </p:nvPr>
        </p:nvSpPr>
        <p:spPr bwMode="auto">
          <a:xfrm>
            <a:off x="677334" y="1445343"/>
            <a:ext cx="8596668" cy="4596020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en-US" b="1">
                <a:latin typeface="Times New Roman"/>
                <a:cs typeface="Times New Roman"/>
              </a:rPr>
              <a:t>Phishing</a:t>
            </a:r>
            <a:r>
              <a:rPr lang="en-US">
                <a:latin typeface="Times New Roman"/>
                <a:cs typeface="Times New Roman"/>
              </a:rPr>
              <a:t> is a cyberattack where attackers impersonate trusted individuals or organizations to trick victims into revealing sensitive information, including Personally Identifiable Information (PII) and Sensitive Personally Identifiable Information (SPII).</a:t>
            </a:r>
            <a:endParaRPr/>
          </a:p>
          <a:p>
            <a:pPr marL="0" indent="0">
              <a:buNone/>
              <a:defRPr/>
            </a:pPr>
            <a:r>
              <a:rPr lang="en-US" b="1">
                <a:latin typeface="Times New Roman"/>
                <a:cs typeface="Times New Roman"/>
              </a:rPr>
              <a:t>Common Targets</a:t>
            </a:r>
            <a:endParaRPr/>
          </a:p>
          <a:p>
            <a:pPr lvl="1">
              <a:defRPr/>
            </a:pPr>
            <a:r>
              <a:rPr lang="en-US">
                <a:latin typeface="Times New Roman"/>
                <a:cs typeface="Times New Roman"/>
              </a:rPr>
              <a:t>Usernames </a:t>
            </a:r>
            <a:endParaRPr/>
          </a:p>
          <a:p>
            <a:pPr lvl="1">
              <a:defRPr/>
            </a:pPr>
            <a:r>
              <a:rPr lang="en-US">
                <a:latin typeface="Times New Roman"/>
                <a:cs typeface="Times New Roman"/>
              </a:rPr>
              <a:t>Passwords </a:t>
            </a:r>
            <a:endParaRPr/>
          </a:p>
          <a:p>
            <a:pPr lvl="1">
              <a:defRPr/>
            </a:pPr>
            <a:r>
              <a:rPr lang="en-US">
                <a:latin typeface="Times New Roman"/>
                <a:cs typeface="Times New Roman"/>
              </a:rPr>
              <a:t>Credit card details </a:t>
            </a:r>
            <a:endParaRPr/>
          </a:p>
          <a:p>
            <a:pPr lvl="1">
              <a:defRPr/>
            </a:pPr>
            <a:r>
              <a:rPr lang="en-US">
                <a:latin typeface="Times New Roman"/>
                <a:cs typeface="Times New Roman"/>
              </a:rPr>
              <a:t>Bank account information </a:t>
            </a:r>
            <a:endParaRPr/>
          </a:p>
          <a:p>
            <a:pPr lvl="1">
              <a:defRPr/>
            </a:pPr>
            <a:r>
              <a:rPr lang="en-US">
                <a:latin typeface="Times New Roman"/>
                <a:cs typeface="Times New Roman"/>
              </a:rPr>
              <a:t>Personal data </a:t>
            </a:r>
            <a:endParaRPr/>
          </a:p>
          <a:p>
            <a:pPr marL="0" indent="0">
              <a:buNone/>
              <a:defRPr/>
            </a:pPr>
            <a:endParaRPr lang="en-US">
              <a:latin typeface="Times New Roman"/>
              <a:cs typeface="Times New Roman"/>
            </a:endParaRPr>
          </a:p>
        </p:txBody>
      </p:sp>
      <p:pic>
        <p:nvPicPr>
          <p:cNvPr id="2126307802" name="Content Placeholder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503626" y="4458570"/>
            <a:ext cx="2274119" cy="2133959"/>
          </a:xfrm>
          <a:prstGeom prst="rect">
            <a:avLst/>
          </a:prstGeom>
        </p:spPr>
      </p:pic>
      <p:sp>
        <p:nvSpPr>
          <p:cNvPr id="982659867" name="TextBox 8"/>
          <p:cNvSpPr txBox="1"/>
          <p:nvPr/>
        </p:nvSpPr>
        <p:spPr bwMode="auto">
          <a:xfrm>
            <a:off x="3050458" y="3246792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endParaRPr lang="en-US"/>
          </a:p>
        </p:txBody>
      </p:sp>
      <p:pic>
        <p:nvPicPr>
          <p:cNvPr id="1185759290" name="Picture 12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393085" flipH="0" flipV="0">
            <a:off x="5247454" y="3108324"/>
            <a:ext cx="3059226" cy="25559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600" advClick="1">
        <p:fade thruBlk="0"/>
      </p:transition>
    </mc:Choice>
    <mc:Fallback>
      <p:transition spd="slow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1751824" name="Title 1"/>
          <p:cNvSpPr>
            <a:spLocks noGrp="1"/>
          </p:cNvSpPr>
          <p:nvPr>
            <p:ph type="title"/>
          </p:nvPr>
        </p:nvSpPr>
        <p:spPr bwMode="auto">
          <a:xfrm>
            <a:off x="677334" y="334298"/>
            <a:ext cx="8596668" cy="1012722"/>
          </a:xfrm>
        </p:spPr>
        <p:txBody>
          <a:bodyPr/>
          <a:lstStyle/>
          <a:p>
            <a:pPr algn="ctr">
              <a:defRPr/>
            </a:pPr>
            <a:r>
              <a:rPr lang="en-US" b="1">
                <a:latin typeface="Times New Roman"/>
                <a:cs typeface="Times New Roman"/>
              </a:rPr>
              <a:t>How Phishing Works</a:t>
            </a:r>
            <a:endParaRPr/>
          </a:p>
        </p:txBody>
      </p:sp>
      <p:sp>
        <p:nvSpPr>
          <p:cNvPr id="2096490139" name="Content Placeholder 6"/>
          <p:cNvSpPr>
            <a:spLocks noGrp="1"/>
          </p:cNvSpPr>
          <p:nvPr>
            <p:ph idx="1"/>
          </p:nvPr>
        </p:nvSpPr>
        <p:spPr bwMode="auto">
          <a:xfrm>
            <a:off x="677334" y="1229033"/>
            <a:ext cx="8596668" cy="5628968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2000">
                <a:solidFill>
                  <a:schemeClr val="bg1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Attacker</a:t>
            </a:r>
            <a:endParaRPr/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2000">
                <a:latin typeface="Times New Roman"/>
                <a:cs typeface="Times New Roman"/>
              </a:rPr>
              <a:t>↓</a:t>
            </a:r>
            <a:endParaRPr/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2000">
                <a:solidFill>
                  <a:schemeClr val="bg1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Creates fake email</a:t>
            </a:r>
            <a:endParaRPr/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2000">
                <a:latin typeface="Times New Roman"/>
                <a:cs typeface="Times New Roman"/>
              </a:rPr>
              <a:t>↓</a:t>
            </a:r>
            <a:endParaRPr/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2000">
                <a:solidFill>
                  <a:schemeClr val="bg1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Victim clicks link</a:t>
            </a:r>
            <a:endParaRPr/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2000">
                <a:latin typeface="Times New Roman"/>
                <a:cs typeface="Times New Roman"/>
              </a:rPr>
              <a:t>↓</a:t>
            </a:r>
            <a:endParaRPr/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2000">
                <a:solidFill>
                  <a:schemeClr val="bg1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Fake login page</a:t>
            </a:r>
            <a:endParaRPr/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2000">
                <a:latin typeface="Times New Roman"/>
                <a:cs typeface="Times New Roman"/>
              </a:rPr>
              <a:t>↓</a:t>
            </a:r>
            <a:endParaRPr/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2000">
                <a:solidFill>
                  <a:schemeClr val="bg1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Credentials stolen</a:t>
            </a:r>
            <a:endParaRPr/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2000">
                <a:latin typeface="Times New Roman"/>
                <a:cs typeface="Times New Roman"/>
              </a:rPr>
              <a:t>↓</a:t>
            </a:r>
            <a:endParaRPr/>
          </a:p>
          <a:p>
            <a:pPr marL="0" indent="0" algn="ctr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sz="2000">
                <a:solidFill>
                  <a:schemeClr val="bg1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Account compromised</a:t>
            </a:r>
            <a:endParaRPr lang="en-US" sz="500">
              <a:solidFill>
                <a:schemeClr val="bg1"/>
              </a:solidFill>
              <a:highlight>
                <a:srgbClr val="000000"/>
              </a:highlight>
              <a:latin typeface="Times New Roman"/>
              <a:cs typeface="Times New Roman"/>
            </a:endParaRPr>
          </a:p>
        </p:txBody>
      </p:sp>
      <p:pic>
        <p:nvPicPr>
          <p:cNvPr id="646257323" name="Content Placeholder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124221" y="4724041"/>
            <a:ext cx="2274119" cy="21339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3900" advClick="1">
        <p:fade thruBlk="0"/>
      </p:transition>
    </mc:Choice>
    <mc:Fallback>
      <p:transition spd="slow" advClick="1">
        <p:fade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935510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ctr">
              <a:defRPr/>
            </a:pPr>
            <a:r>
              <a:rPr lang="en-US" b="1">
                <a:latin typeface="Times New Roman"/>
                <a:cs typeface="Times New Roman"/>
              </a:rPr>
              <a:t>Types of Phishing</a:t>
            </a:r>
            <a:endParaRPr/>
          </a:p>
        </p:txBody>
      </p:sp>
      <p:sp>
        <p:nvSpPr>
          <p:cNvPr id="1218747158" name="Content Placeholder 2"/>
          <p:cNvSpPr>
            <a:spLocks noGrp="1"/>
          </p:cNvSpPr>
          <p:nvPr>
            <p:ph idx="1"/>
          </p:nvPr>
        </p:nvSpPr>
        <p:spPr bwMode="auto">
          <a:xfrm>
            <a:off x="677334" y="1406013"/>
            <a:ext cx="8596668" cy="4635349"/>
          </a:xfrm>
        </p:spPr>
        <p:txBody>
          <a:bodyPr numCol="2">
            <a:normAutofit fontScale="85000" lnSpcReduction="20000"/>
          </a:bodyPr>
          <a:lstStyle/>
          <a:p>
            <a:pPr marL="0" indent="0">
              <a:buNone/>
              <a:defRPr/>
            </a:pPr>
            <a:endParaRPr lang="en-US" sz="2400"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en-US" sz="2400">
                <a:latin typeface="Times New Roman"/>
                <a:cs typeface="Times New Roman"/>
              </a:rPr>
              <a:t>📧 Email Phishing</a:t>
            </a:r>
            <a:endParaRPr/>
          </a:p>
          <a:p>
            <a:pPr marL="0" indent="0">
              <a:buNone/>
              <a:defRPr/>
            </a:pPr>
            <a:r>
              <a:rPr lang="en-US" sz="2400">
                <a:latin typeface="Times New Roman"/>
                <a:cs typeface="Times New Roman"/>
              </a:rPr>
              <a:t>Fake emails sent to many users.</a:t>
            </a:r>
            <a:endParaRPr/>
          </a:p>
          <a:p>
            <a:pPr marL="0" indent="0">
              <a:buNone/>
              <a:defRPr/>
            </a:pPr>
            <a:endParaRPr lang="en-US" sz="2400"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endParaRPr lang="en-US" sz="2400"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en-US" sz="2400">
                <a:latin typeface="Times New Roman"/>
                <a:cs typeface="Times New Roman"/>
              </a:rPr>
              <a:t>🎯 Spear Phishing</a:t>
            </a:r>
            <a:endParaRPr/>
          </a:p>
          <a:p>
            <a:pPr marL="0" indent="0">
              <a:buNone/>
              <a:defRPr/>
            </a:pPr>
            <a:r>
              <a:rPr lang="en-US" sz="2400">
                <a:latin typeface="Times New Roman"/>
                <a:cs typeface="Times New Roman"/>
              </a:rPr>
              <a:t>Targets one specific person.</a:t>
            </a:r>
            <a:endParaRPr/>
          </a:p>
          <a:p>
            <a:pPr marL="0" indent="0">
              <a:buNone/>
              <a:defRPr/>
            </a:pPr>
            <a:endParaRPr lang="en-US" sz="2400"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endParaRPr lang="en-US" sz="2400"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en-US" sz="2400">
                <a:latin typeface="Times New Roman"/>
                <a:cs typeface="Times New Roman"/>
              </a:rPr>
              <a:t>👔 Whaling</a:t>
            </a:r>
            <a:endParaRPr/>
          </a:p>
          <a:p>
            <a:pPr marL="0" indent="0">
              <a:buNone/>
              <a:defRPr/>
            </a:pPr>
            <a:r>
              <a:rPr lang="en-US" sz="2400">
                <a:latin typeface="Times New Roman"/>
                <a:cs typeface="Times New Roman"/>
              </a:rPr>
              <a:t>Targets executives.</a:t>
            </a:r>
            <a:endParaRPr/>
          </a:p>
          <a:p>
            <a:pPr marL="0" indent="0">
              <a:buNone/>
              <a:defRPr/>
            </a:pPr>
            <a:endParaRPr lang="en-US" sz="2400"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br>
              <a:rPr lang="en-US" sz="2400">
                <a:latin typeface="Times New Roman"/>
                <a:cs typeface="Times New Roman"/>
              </a:rPr>
            </a:br>
            <a:endParaRPr lang="en-US" sz="2400"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en-US" sz="2400">
                <a:latin typeface="Times New Roman"/>
                <a:cs typeface="Times New Roman"/>
              </a:rPr>
              <a:t>📱 Smishing</a:t>
            </a:r>
            <a:endParaRPr/>
          </a:p>
          <a:p>
            <a:pPr marL="0" indent="0">
              <a:buNone/>
              <a:defRPr/>
            </a:pPr>
            <a:r>
              <a:rPr lang="en-US" sz="2400">
                <a:latin typeface="Times New Roman"/>
                <a:cs typeface="Times New Roman"/>
              </a:rPr>
              <a:t>SMS phishing.</a:t>
            </a:r>
            <a:endParaRPr/>
          </a:p>
          <a:p>
            <a:pPr marL="0" indent="0">
              <a:buNone/>
              <a:defRPr/>
            </a:pPr>
            <a:endParaRPr lang="en-US" sz="2400"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en-US" sz="2400">
                <a:latin typeface="Times New Roman"/>
                <a:cs typeface="Times New Roman"/>
              </a:rPr>
              <a:t>📞 Vishing</a:t>
            </a:r>
            <a:endParaRPr/>
          </a:p>
          <a:p>
            <a:pPr marL="0" indent="0">
              <a:buNone/>
              <a:defRPr/>
            </a:pPr>
            <a:r>
              <a:rPr lang="en-US" sz="2400">
                <a:latin typeface="Times New Roman"/>
                <a:cs typeface="Times New Roman"/>
              </a:rPr>
              <a:t>Phone call phishing.</a:t>
            </a:r>
            <a:endParaRPr/>
          </a:p>
          <a:p>
            <a:pPr marL="0" indent="0">
              <a:buNone/>
              <a:defRPr/>
            </a:pPr>
            <a:br>
              <a:rPr lang="en-US" sz="2400">
                <a:latin typeface="Times New Roman"/>
                <a:cs typeface="Times New Roman"/>
              </a:rPr>
            </a:br>
            <a:endParaRPr lang="en-US" sz="2400"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r>
              <a:rPr lang="en-US" sz="2400">
                <a:latin typeface="Times New Roman"/>
                <a:cs typeface="Times New Roman"/>
              </a:rPr>
              <a:t>💬 Clone Phishing</a:t>
            </a:r>
            <a:endParaRPr/>
          </a:p>
          <a:p>
            <a:pPr marL="0" indent="0">
              <a:buNone/>
              <a:defRPr/>
            </a:pPr>
            <a:r>
              <a:rPr lang="en-US" sz="2400">
                <a:latin typeface="Times New Roman"/>
                <a:cs typeface="Times New Roman"/>
              </a:rPr>
              <a:t>Copies legitimate emails.</a:t>
            </a:r>
            <a:endParaRPr/>
          </a:p>
          <a:p>
            <a:pPr marL="0" indent="0">
              <a:buNone/>
              <a:defRPr/>
            </a:pPr>
            <a:r>
              <a:rPr lang="en-US" sz="2400">
                <a:latin typeface="Times New Roman"/>
                <a:cs typeface="Times New Roman"/>
              </a:rPr>
              <a:t>Very professional.</a:t>
            </a:r>
            <a:endParaRPr/>
          </a:p>
          <a:p>
            <a:pPr marL="0" indent="0">
              <a:buNone/>
              <a:defRPr/>
            </a:pPr>
            <a:endParaRPr lang="en-US" sz="2400">
              <a:latin typeface="Times New Roman"/>
              <a:cs typeface="Times New Roman"/>
            </a:endParaRPr>
          </a:p>
        </p:txBody>
      </p:sp>
      <p:pic>
        <p:nvPicPr>
          <p:cNvPr id="51316845" name="Content Placeholder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8628555" y="4539765"/>
            <a:ext cx="2274119" cy="21339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000" advClick="1">
        <p:push dir="u"/>
      </p:transition>
    </mc:Choice>
    <mc:Fallback>
      <p:transition spd="slow" advClick="1">
        <p:push dir="u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626880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0" y="275304"/>
            <a:ext cx="8596313" cy="668594"/>
          </a:xfrm>
        </p:spPr>
        <p:txBody>
          <a:bodyPr/>
          <a:lstStyle/>
          <a:p>
            <a:pPr algn="ctr">
              <a:defRPr/>
            </a:pPr>
            <a:r>
              <a:rPr lang="en-US"/>
              <a:t>📧 </a:t>
            </a:r>
            <a:r>
              <a:rPr lang="en-US" b="1">
                <a:latin typeface="Times New Roman"/>
                <a:cs typeface="Times New Roman"/>
              </a:rPr>
              <a:t>Anatomy of a Phishing Email</a:t>
            </a:r>
            <a:endParaRPr/>
          </a:p>
        </p:txBody>
      </p:sp>
      <p:grpSp>
        <p:nvGrpSpPr>
          <p:cNvPr id="1874837890" name="Group 8"/>
          <p:cNvGrpSpPr/>
          <p:nvPr/>
        </p:nvGrpSpPr>
        <p:grpSpPr bwMode="auto">
          <a:xfrm>
            <a:off x="304800" y="943898"/>
            <a:ext cx="8465573" cy="5497542"/>
            <a:chOff x="304800" y="943898"/>
            <a:chExt cx="8465573" cy="5497542"/>
          </a:xfrm>
        </p:grpSpPr>
        <p:sp>
          <p:nvSpPr>
            <p:cNvPr id="6" name="Rectangle 5"/>
            <p:cNvSpPr/>
            <p:nvPr/>
          </p:nvSpPr>
          <p:spPr bwMode="auto">
            <a:xfrm>
              <a:off x="304800" y="943898"/>
              <a:ext cx="5598159" cy="5497542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/>
              </a:pPr>
              <a:endParaRPr lang="en-US" sz="1400">
                <a:solidFill>
                  <a:schemeClr val="tx1"/>
                </a:solidFill>
                <a:latin typeface="Times New Roman"/>
                <a:cs typeface="Times New Roman"/>
              </a:endParaRPr>
            </a:p>
            <a:p>
              <a:pPr>
                <a:defRPr/>
              </a:pPr>
              <a:r>
                <a:rPr lang="en-US" sz="1400">
                  <a:solidFill>
                    <a:schemeClr val="tx1"/>
                  </a:solidFill>
                  <a:latin typeface="Times New Roman"/>
                  <a:cs typeface="Times New Roman"/>
                </a:rPr>
                <a:t> From: </a:t>
              </a:r>
              <a:r>
                <a:rPr lang="en" sz="1400">
                  <a:solidFill>
                    <a:schemeClr val="tx1"/>
                  </a:solidFill>
                  <a:latin typeface="Times New Roman"/>
                  <a:cs typeface="Times New Roman"/>
                </a:rPr>
                <a:t>Hackura</a:t>
              </a:r>
              <a:r>
                <a:rPr lang="en-US" sz="1400">
                  <a:solidFill>
                    <a:schemeClr val="tx1"/>
                  </a:solidFill>
                  <a:latin typeface="Times New Roman"/>
                  <a:cs typeface="Times New Roman"/>
                </a:rPr>
                <a:t> Support </a:t>
              </a:r>
              <a:endParaRPr/>
            </a:p>
            <a:p>
              <a:pPr>
                <a:defRPr/>
              </a:pPr>
              <a:r>
                <a:rPr lang="en-US" sz="1400" u="sng">
                  <a:solidFill>
                    <a:schemeClr val="tx1"/>
                  </a:solidFill>
                  <a:latin typeface="Times New Roman"/>
                  <a:cs typeface="Times New Roman"/>
                  <a:hlinkClick r:id="rId3" tooltip=""/>
                </a:rPr>
                <a:t> support@</a:t>
              </a:r>
              <a:r>
                <a:rPr lang="en-US" sz="1400" u="sng">
                  <a:solidFill>
                    <a:schemeClr val="tx1"/>
                  </a:solidFill>
                  <a:latin typeface="Times New Roman"/>
                  <a:cs typeface="Times New Roman"/>
                  <a:hlinkClick r:id="rId3" tooltip=""/>
                </a:rPr>
                <a:t>hackura</a:t>
              </a:r>
              <a:r>
                <a:rPr lang="en-US" sz="1400" u="sng">
                  <a:solidFill>
                    <a:schemeClr val="tx1"/>
                  </a:solidFill>
                  <a:latin typeface="Times New Roman"/>
                  <a:cs typeface="Times New Roman"/>
                  <a:hlinkClick r:id="rId3" tooltip=""/>
                </a:rPr>
                <a:t>-security.com</a:t>
              </a:r>
              <a:r>
                <a:rPr lang="en-US" sz="1400">
                  <a:solidFill>
                    <a:schemeClr val="tx1"/>
                  </a:solidFill>
                  <a:latin typeface="Times New Roman"/>
                  <a:cs typeface="Times New Roman"/>
                </a:rPr>
                <a:t>		🔴</a:t>
              </a:r>
              <a:endParaRPr/>
            </a:p>
            <a:p>
              <a:pPr>
                <a:defRPr/>
              </a:pPr>
              <a:endParaRPr lang="en-US" sz="1400">
                <a:solidFill>
                  <a:schemeClr val="tx1"/>
                </a:solidFill>
                <a:latin typeface="Times New Roman"/>
                <a:cs typeface="Times New Roman"/>
              </a:endParaRPr>
            </a:p>
            <a:p>
              <a:pPr>
                <a:defRPr/>
              </a:pPr>
              <a:r>
                <a:rPr lang="en-US" sz="1400">
                  <a:solidFill>
                    <a:schemeClr val="tx1"/>
                  </a:solidFill>
                  <a:latin typeface="Times New Roman"/>
                  <a:cs typeface="Times New Roman"/>
                </a:rPr>
                <a:t> Subject: URGENT: Verify Your Student Portal 	🔴</a:t>
              </a:r>
              <a:endParaRPr/>
            </a:p>
            <a:p>
              <a:pPr>
                <a:defRPr/>
              </a:pPr>
              <a:endParaRPr lang="en-US" sz="1400">
                <a:solidFill>
                  <a:schemeClr val="tx1"/>
                </a:solidFill>
                <a:latin typeface="Times New Roman"/>
                <a:cs typeface="Times New Roman"/>
              </a:endParaRPr>
            </a:p>
            <a:p>
              <a:pPr>
                <a:defRPr/>
              </a:pPr>
              <a:r>
                <a:rPr lang="en-US" sz="1400">
                  <a:solidFill>
                    <a:schemeClr val="tx1"/>
                  </a:solidFill>
                  <a:latin typeface="Times New Roman"/>
                  <a:cs typeface="Times New Roman"/>
                </a:rPr>
                <a:t> Dear Student,		🔴</a:t>
              </a:r>
              <a:endParaRPr/>
            </a:p>
            <a:p>
              <a:pPr>
                <a:defRPr/>
              </a:pPr>
              <a:endParaRPr lang="en-US" sz="1400">
                <a:solidFill>
                  <a:schemeClr val="tx1"/>
                </a:solidFill>
                <a:latin typeface="Times New Roman"/>
                <a:cs typeface="Times New Roman"/>
              </a:endParaRPr>
            </a:p>
            <a:p>
              <a:pPr>
                <a:defRPr/>
              </a:pPr>
              <a:r>
                <a:rPr lang="en-US" sz="1400">
                  <a:solidFill>
                    <a:schemeClr val="tx1"/>
                  </a:solidFill>
                  <a:latin typeface="Times New Roman"/>
                  <a:cs typeface="Times New Roman"/>
                </a:rPr>
                <a:t> As part of our cybersecurity internship verification process,</a:t>
              </a:r>
              <a:endParaRPr/>
            </a:p>
            <a:p>
              <a:pPr>
                <a:defRPr/>
              </a:pPr>
              <a:r>
                <a:rPr lang="en-US" sz="1400">
                  <a:solidFill>
                    <a:schemeClr val="tx1"/>
                  </a:solidFill>
                  <a:latin typeface="Times New Roman"/>
                  <a:cs typeface="Times New Roman"/>
                </a:rPr>
                <a:t> all interns are required to verify their student portal before</a:t>
              </a:r>
              <a:endParaRPr/>
            </a:p>
            <a:p>
              <a:pPr>
                <a:defRPr/>
              </a:pPr>
              <a:r>
                <a:rPr lang="en-US" sz="1400">
                  <a:solidFill>
                    <a:schemeClr val="tx1"/>
                  </a:solidFill>
                  <a:latin typeface="Times New Roman"/>
                  <a:cs typeface="Times New Roman"/>
                </a:rPr>
                <a:t> their internship account is activated.</a:t>
              </a:r>
              <a:endParaRPr/>
            </a:p>
            <a:p>
              <a:pPr>
                <a:defRPr/>
              </a:pPr>
              <a:endParaRPr lang="en-US" sz="1400">
                <a:solidFill>
                  <a:schemeClr val="tx1"/>
                </a:solidFill>
                <a:latin typeface="Times New Roman"/>
                <a:cs typeface="Times New Roman"/>
              </a:endParaRPr>
            </a:p>
            <a:p>
              <a:pPr>
                <a:defRPr/>
              </a:pPr>
              <a:r>
                <a:rPr lang="en-US" sz="1400">
                  <a:solidFill>
                    <a:schemeClr val="tx1"/>
                  </a:solidFill>
                  <a:latin typeface="Times New Roman"/>
                  <a:cs typeface="Times New Roman"/>
                </a:rPr>
                <a:t> Failure to complete verification within 24 hours may result in:</a:t>
              </a:r>
              <a:endParaRPr/>
            </a:p>
            <a:p>
              <a:pPr>
                <a:defRPr/>
              </a:pPr>
              <a:endParaRPr lang="en-US" sz="1400">
                <a:solidFill>
                  <a:schemeClr val="tx1"/>
                </a:solidFill>
                <a:latin typeface="Times New Roman"/>
                <a:cs typeface="Times New Roman"/>
              </a:endParaRPr>
            </a:p>
            <a:p>
              <a:pPr>
                <a:defRPr/>
              </a:pPr>
              <a:r>
                <a:rPr lang="en-US" sz="1400">
                  <a:solidFill>
                    <a:schemeClr val="tx1"/>
                  </a:solidFill>
                  <a:latin typeface="Times New Roman"/>
                  <a:cs typeface="Times New Roman"/>
                </a:rPr>
                <a:t> • Internship suspension</a:t>
              </a:r>
              <a:endParaRPr/>
            </a:p>
            <a:p>
              <a:pPr>
                <a:defRPr/>
              </a:pPr>
              <a:r>
                <a:rPr lang="en-US" sz="1400">
                  <a:solidFill>
                    <a:schemeClr val="tx1"/>
                  </a:solidFill>
                  <a:latin typeface="Times New Roman"/>
                  <a:cs typeface="Times New Roman"/>
                </a:rPr>
                <a:t> • Loss of access to project submissions</a:t>
              </a:r>
              <a:endParaRPr/>
            </a:p>
            <a:p>
              <a:pPr>
                <a:defRPr/>
              </a:pPr>
              <a:r>
                <a:rPr lang="en-US" sz="1400">
                  <a:solidFill>
                    <a:schemeClr val="tx1"/>
                  </a:solidFill>
                  <a:latin typeface="Times New Roman"/>
                  <a:cs typeface="Times New Roman"/>
                </a:rPr>
                <a:t> • Removal from the internship portal</a:t>
              </a:r>
              <a:endParaRPr/>
            </a:p>
            <a:p>
              <a:pPr>
                <a:defRPr/>
              </a:pPr>
              <a:endParaRPr lang="en-US" sz="1400">
                <a:solidFill>
                  <a:schemeClr val="tx1"/>
                </a:solidFill>
                <a:latin typeface="Times New Roman"/>
                <a:cs typeface="Times New Roman"/>
              </a:endParaRPr>
            </a:p>
            <a:p>
              <a:pPr>
                <a:defRPr/>
              </a:pPr>
              <a:r>
                <a:rPr lang="en-US" sz="1400">
                  <a:solidFill>
                    <a:schemeClr val="tx1"/>
                  </a:solidFill>
                  <a:latin typeface="Times New Roman"/>
                  <a:cs typeface="Times New Roman"/>
                </a:rPr>
                <a:t> Click the button below to verify your account.</a:t>
              </a:r>
              <a:endParaRPr/>
            </a:p>
            <a:p>
              <a:pPr>
                <a:defRPr/>
              </a:pPr>
              <a:endParaRPr lang="en-US" sz="1400">
                <a:solidFill>
                  <a:schemeClr val="tx1"/>
                </a:solidFill>
                <a:latin typeface="Times New Roman"/>
                <a:cs typeface="Times New Roman"/>
              </a:endParaRPr>
            </a:p>
            <a:p>
              <a:pPr>
                <a:defRPr/>
              </a:pPr>
              <a:r>
                <a:rPr lang="en-US" sz="1400">
                  <a:solidFill>
                    <a:schemeClr val="tx1"/>
                  </a:solidFill>
                  <a:latin typeface="Times New Roman"/>
                  <a:cs typeface="Times New Roman"/>
                </a:rPr>
                <a:t>	</a:t>
              </a:r>
              <a:r>
                <a:rPr lang="en-US" sz="1400">
                  <a:solidFill>
                    <a:schemeClr val="tx1"/>
                  </a:solidFill>
                  <a:highlight>
                    <a:srgbClr val="00FFFF"/>
                  </a:highlight>
                  <a:latin typeface="Times New Roman"/>
                  <a:cs typeface="Times New Roman"/>
                </a:rPr>
                <a:t>[ VERIFY PORTAL ]</a:t>
              </a:r>
              <a:r>
                <a:rPr lang="en-US" sz="1400">
                  <a:solidFill>
                    <a:schemeClr val="tx1"/>
                  </a:solidFill>
                  <a:latin typeface="Times New Roman"/>
                  <a:cs typeface="Times New Roman"/>
                </a:rPr>
                <a:t>		🔴</a:t>
              </a:r>
              <a:endParaRPr/>
            </a:p>
            <a:p>
              <a:pPr>
                <a:defRPr/>
              </a:pPr>
              <a:endParaRPr lang="en-US" sz="1400">
                <a:solidFill>
                  <a:schemeClr val="tx1"/>
                </a:solidFill>
                <a:latin typeface="Times New Roman"/>
                <a:cs typeface="Times New Roman"/>
              </a:endParaRPr>
            </a:p>
            <a:p>
              <a:pPr>
                <a:defRPr/>
              </a:pPr>
              <a:r>
                <a:rPr lang="en-US" sz="1400" u="sng">
                  <a:solidFill>
                    <a:schemeClr val="tx1"/>
                  </a:solidFill>
                  <a:latin typeface="Times New Roman"/>
                  <a:cs typeface="Times New Roman"/>
                  <a:hlinkClick r:id="rId4" tooltip=""/>
                </a:rPr>
                <a:t> https://</a:t>
              </a:r>
              <a:r>
                <a:rPr lang="en-US" sz="1400" u="sng">
                  <a:solidFill>
                    <a:schemeClr val="tx1"/>
                  </a:solidFill>
                  <a:latin typeface="Times New Roman"/>
                  <a:cs typeface="Times New Roman"/>
                  <a:hlinkClick r:id="rId4" tooltip=""/>
                </a:rPr>
                <a:t>hackura</a:t>
              </a:r>
              <a:r>
                <a:rPr lang="en-US" sz="1400" u="sng">
                  <a:solidFill>
                    <a:schemeClr val="tx1"/>
                  </a:solidFill>
                  <a:latin typeface="Times New Roman"/>
                  <a:cs typeface="Times New Roman"/>
                  <a:hlinkClick r:id="rId4" tooltip=""/>
                </a:rPr>
                <a:t>verify-login.com</a:t>
              </a:r>
              <a:r>
                <a:rPr lang="en-US" sz="1400">
                  <a:solidFill>
                    <a:schemeClr val="tx1"/>
                  </a:solidFill>
                  <a:latin typeface="Times New Roman"/>
                  <a:cs typeface="Times New Roman"/>
                </a:rPr>
                <a:t>		🔴</a:t>
              </a:r>
              <a:endParaRPr/>
            </a:p>
            <a:p>
              <a:pPr>
                <a:defRPr/>
              </a:pPr>
              <a:endParaRPr lang="en-US" sz="1400">
                <a:solidFill>
                  <a:schemeClr val="tx1"/>
                </a:solidFill>
                <a:latin typeface="Times New Roman"/>
                <a:cs typeface="Times New Roman"/>
              </a:endParaRPr>
            </a:p>
            <a:p>
              <a:pPr>
                <a:defRPr/>
              </a:pPr>
              <a:r>
                <a:rPr lang="en-US" sz="1400">
                  <a:solidFill>
                    <a:schemeClr val="tx1"/>
                  </a:solidFill>
                  <a:latin typeface="Times New Roman"/>
                  <a:cs typeface="Times New Roman"/>
                </a:rPr>
                <a:t> Thank you.</a:t>
              </a:r>
              <a:endParaRPr/>
            </a:p>
            <a:p>
              <a:pPr>
                <a:defRPr/>
              </a:pPr>
              <a:r>
                <a:rPr lang="en-US" sz="1400">
                  <a:solidFill>
                    <a:schemeClr val="tx1"/>
                  </a:solidFill>
                  <a:latin typeface="Times New Roman"/>
                  <a:cs typeface="Times New Roman"/>
                </a:rPr>
                <a:t> </a:t>
              </a:r>
              <a:r>
                <a:rPr lang="en" sz="1400">
                  <a:solidFill>
                    <a:schemeClr val="tx1"/>
                  </a:solidFill>
                  <a:latin typeface="Times New Roman"/>
                  <a:cs typeface="Times New Roman"/>
                </a:rPr>
                <a:t>Hackura</a:t>
              </a:r>
              <a:r>
                <a:rPr lang="en-US" sz="1400">
                  <a:solidFill>
                    <a:schemeClr val="tx1"/>
                  </a:solidFill>
                  <a:latin typeface="Times New Roman"/>
                  <a:cs typeface="Times New Roman"/>
                </a:rPr>
                <a:t> Student Support Team</a:t>
              </a:r>
              <a:endParaRPr lang="fr-FR" sz="1400">
                <a:solidFill>
                  <a:schemeClr val="tx1"/>
                </a:solidFill>
                <a:latin typeface="Times New Roman"/>
                <a:cs typeface="Times New Roman"/>
              </a:endParaRPr>
            </a:p>
            <a:p>
              <a:pPr>
                <a:defRPr/>
              </a:pPr>
              <a:endParaRPr lang="en-US" sz="1200">
                <a:solidFill>
                  <a:schemeClr val="tx1"/>
                </a:solidFill>
                <a:latin typeface="Times New Roman"/>
                <a:cs typeface="Times New Roman"/>
              </a:endParaRPr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5902960" y="1319818"/>
              <a:ext cx="2867413" cy="438518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>
                  <a:highlight>
                    <a:srgbClr val="800000"/>
                  </a:highlight>
                  <a:latin typeface="Times New Roman"/>
                  <a:cs typeface="Times New Roman"/>
                </a:rPr>
                <a:t>🚩 Warning Signs</a:t>
              </a:r>
              <a:endParaRPr/>
            </a:p>
            <a:p>
              <a:pPr algn="ctr">
                <a:defRPr/>
              </a:pPr>
              <a:endParaRPr lang="en-US">
                <a:highlight>
                  <a:srgbClr val="000000"/>
                </a:highlight>
                <a:latin typeface="Times New Roman"/>
                <a:cs typeface="Times New Roman"/>
              </a:endParaRPr>
            </a:p>
            <a:p>
              <a:pPr algn="ctr">
                <a:defRPr/>
              </a:pPr>
              <a:r>
                <a:rPr lang="en-US">
                  <a:highlight>
                    <a:srgbClr val="0000FF"/>
                  </a:highlight>
                  <a:latin typeface="Times New Roman"/>
                  <a:cs typeface="Times New Roman"/>
                </a:rPr>
                <a:t>❌ Fake sender</a:t>
              </a:r>
              <a:endParaRPr/>
            </a:p>
            <a:p>
              <a:pPr algn="ctr">
                <a:defRPr/>
              </a:pPr>
              <a:endParaRPr lang="en-US">
                <a:highlight>
                  <a:srgbClr val="0000FF"/>
                </a:highlight>
                <a:latin typeface="Times New Roman"/>
                <a:cs typeface="Times New Roman"/>
              </a:endParaRPr>
            </a:p>
            <a:p>
              <a:pPr algn="ctr">
                <a:defRPr/>
              </a:pPr>
              <a:r>
                <a:rPr lang="en-US">
                  <a:highlight>
                    <a:srgbClr val="0000FF"/>
                  </a:highlight>
                  <a:latin typeface="Times New Roman"/>
                  <a:cs typeface="Times New Roman"/>
                </a:rPr>
                <a:t>❌ Urgent subject</a:t>
              </a:r>
              <a:endParaRPr/>
            </a:p>
            <a:p>
              <a:pPr algn="ctr">
                <a:defRPr/>
              </a:pPr>
              <a:endParaRPr lang="en-US">
                <a:highlight>
                  <a:srgbClr val="0000FF"/>
                </a:highlight>
                <a:latin typeface="Times New Roman"/>
                <a:cs typeface="Times New Roman"/>
              </a:endParaRPr>
            </a:p>
            <a:p>
              <a:pPr algn="ctr">
                <a:defRPr/>
              </a:pPr>
              <a:r>
                <a:rPr lang="en-US">
                  <a:highlight>
                    <a:srgbClr val="0000FF"/>
                  </a:highlight>
                  <a:latin typeface="Times New Roman"/>
                  <a:cs typeface="Times New Roman"/>
                </a:rPr>
                <a:t>❌ Generic greeting</a:t>
              </a:r>
              <a:endParaRPr/>
            </a:p>
            <a:p>
              <a:pPr algn="ctr">
                <a:defRPr/>
              </a:pPr>
              <a:endParaRPr lang="en-US">
                <a:highlight>
                  <a:srgbClr val="0000FF"/>
                </a:highlight>
                <a:latin typeface="Times New Roman"/>
                <a:cs typeface="Times New Roman"/>
              </a:endParaRPr>
            </a:p>
            <a:p>
              <a:pPr algn="ctr">
                <a:defRPr/>
              </a:pPr>
              <a:r>
                <a:rPr lang="en-US">
                  <a:highlight>
                    <a:srgbClr val="0000FF"/>
                  </a:highlight>
                  <a:latin typeface="Times New Roman"/>
                  <a:cs typeface="Times New Roman"/>
                </a:rPr>
                <a:t>❌ Immediate action</a:t>
              </a:r>
              <a:endParaRPr/>
            </a:p>
            <a:p>
              <a:pPr algn="ctr">
                <a:defRPr/>
              </a:pPr>
              <a:endParaRPr lang="en-US">
                <a:highlight>
                  <a:srgbClr val="0000FF"/>
                </a:highlight>
                <a:latin typeface="Times New Roman"/>
                <a:cs typeface="Times New Roman"/>
              </a:endParaRPr>
            </a:p>
            <a:p>
              <a:pPr algn="ctr">
                <a:defRPr/>
              </a:pPr>
              <a:r>
                <a:rPr lang="en-US">
                  <a:highlight>
                    <a:srgbClr val="0000FF"/>
                  </a:highlight>
                  <a:latin typeface="Times New Roman"/>
                  <a:cs typeface="Times New Roman"/>
                </a:rPr>
                <a:t>❌ Fake website URL</a:t>
              </a:r>
              <a:endParaRPr/>
            </a:p>
            <a:p>
              <a:pPr algn="ctr">
                <a:defRPr/>
              </a:pPr>
              <a:endParaRPr lang="en-US">
                <a:highlight>
                  <a:srgbClr val="000000"/>
                </a:highlight>
                <a:latin typeface="Times New Roman"/>
                <a:cs typeface="Times New Roman"/>
              </a:endParaRPr>
            </a:p>
          </p:txBody>
        </p:sp>
      </p:grpSp>
      <p:pic>
        <p:nvPicPr>
          <p:cNvPr id="715338814" name="Content Placeholder 4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527458" y="5152104"/>
            <a:ext cx="2486262" cy="1563328"/>
          </a:xfrm>
          <a:prstGeom prst="rect">
            <a:avLst/>
          </a:prstGeom>
        </p:spPr>
      </p:pic>
      <p:sp>
        <p:nvSpPr>
          <p:cNvPr id="1174457484" name="Rectangle 7"/>
          <p:cNvSpPr/>
          <p:nvPr/>
        </p:nvSpPr>
        <p:spPr bwMode="auto">
          <a:xfrm>
            <a:off x="304800" y="6441440"/>
            <a:ext cx="8199120" cy="4903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>
                <a:solidFill>
                  <a:schemeClr val="bg1"/>
                </a:solidFill>
                <a:highlight>
                  <a:srgbClr val="000000"/>
                </a:highlight>
                <a:latin typeface="Times New Roman"/>
                <a:cs typeface="Times New Roman"/>
              </a:rPr>
              <a:t>Training Example: This email is fictional and created for awareness only.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9842529" name="Title 3"/>
          <p:cNvSpPr>
            <a:spLocks noGrp="1"/>
          </p:cNvSpPr>
          <p:nvPr>
            <p:ph type="title" idx="4294967295"/>
          </p:nvPr>
        </p:nvSpPr>
        <p:spPr bwMode="auto">
          <a:xfrm>
            <a:off x="796412" y="196645"/>
            <a:ext cx="8596313" cy="550607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3200" b="1">
                <a:latin typeface="Times New Roman"/>
                <a:cs typeface="Times New Roman"/>
              </a:rPr>
              <a:t>Fake </a:t>
            </a:r>
            <a:r>
              <a:rPr lang="en" sz="3200" b="1">
                <a:latin typeface="Times New Roman"/>
                <a:cs typeface="Times New Roman"/>
              </a:rPr>
              <a:t>Hackura</a:t>
            </a:r>
            <a:r>
              <a:rPr lang="en-US" sz="3200" b="1">
                <a:latin typeface="Times New Roman"/>
                <a:cs typeface="Times New Roman"/>
              </a:rPr>
              <a:t> Login Page (Phishing Website)</a:t>
            </a:r>
            <a:endParaRPr/>
          </a:p>
        </p:txBody>
      </p:sp>
      <p:sp>
        <p:nvSpPr>
          <p:cNvPr id="950234898" name="Rectangle 21"/>
          <p:cNvSpPr/>
          <p:nvPr/>
        </p:nvSpPr>
        <p:spPr bwMode="auto">
          <a:xfrm>
            <a:off x="511277" y="6171062"/>
            <a:ext cx="8259097" cy="6470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b="1">
                <a:latin typeface="Times New Roman"/>
                <a:cs typeface="Times New Roman"/>
              </a:rPr>
              <a:t>🛡️ Never enter your credentials until you have verified the website URL. </a:t>
            </a:r>
            <a:endParaRPr/>
          </a:p>
        </p:txBody>
      </p:sp>
      <p:grpSp>
        <p:nvGrpSpPr>
          <p:cNvPr id="616393378" name="Group 25"/>
          <p:cNvGrpSpPr/>
          <p:nvPr/>
        </p:nvGrpSpPr>
        <p:grpSpPr bwMode="auto">
          <a:xfrm>
            <a:off x="256621" y="884898"/>
            <a:ext cx="9136101" cy="5260261"/>
            <a:chOff x="0" y="0"/>
            <a:chExt cx="9136101" cy="5260261"/>
          </a:xfrm>
        </p:grpSpPr>
        <p:sp>
          <p:nvSpPr>
            <p:cNvPr id="6" name="Rectangle 5"/>
            <p:cNvSpPr/>
            <p:nvPr/>
          </p:nvSpPr>
          <p:spPr bwMode="auto">
            <a:xfrm>
              <a:off x="0" y="1032390"/>
              <a:ext cx="5042965" cy="42278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605081" y="431010"/>
              <a:ext cx="3362632" cy="52555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>
                  <a:solidFill>
                    <a:schemeClr val="tx1"/>
                  </a:solidFill>
                </a:rPr>
                <a:t>🔒 </a:t>
              </a:r>
              <a:r>
                <a:rPr lang="en">
                  <a:solidFill>
                    <a:schemeClr val="tx1"/>
                  </a:solidFill>
                </a:rPr>
                <a:t>hackura</a:t>
              </a:r>
              <a:r>
                <a:rPr lang="en-US">
                  <a:solidFill>
                    <a:schemeClr val="tx1"/>
                  </a:solidFill>
                </a:rPr>
                <a:t>-verify.net/login</a:t>
              </a:r>
              <a:endParaRPr/>
            </a:p>
          </p:txBody>
        </p:sp>
        <p:grpSp>
          <p:nvGrpSpPr>
            <p:cNvPr id="19" name="Group 18"/>
            <p:cNvGrpSpPr/>
            <p:nvPr/>
          </p:nvGrpSpPr>
          <p:grpSpPr bwMode="auto">
            <a:xfrm>
              <a:off x="529958" y="2544099"/>
              <a:ext cx="3205315" cy="2539915"/>
              <a:chOff x="0" y="0"/>
              <a:chExt cx="3205315" cy="2539915"/>
            </a:xfrm>
          </p:grpSpPr>
          <p:sp>
            <p:nvSpPr>
              <p:cNvPr id="9" name="Rectangle 8"/>
              <p:cNvSpPr/>
              <p:nvPr/>
            </p:nvSpPr>
            <p:spPr bwMode="auto">
              <a:xfrm>
                <a:off x="0" y="0"/>
                <a:ext cx="2082714" cy="465955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lang="en-US" b="1">
                    <a:latin typeface="Times New Roman"/>
                    <a:cs typeface="Times New Roman"/>
                  </a:rPr>
                  <a:t>Email Address</a:t>
                </a:r>
                <a:endParaRPr/>
              </a:p>
            </p:txBody>
          </p:sp>
          <p:grpSp>
            <p:nvGrpSpPr>
              <p:cNvPr id="18" name="Group 17"/>
              <p:cNvGrpSpPr/>
              <p:nvPr/>
            </p:nvGrpSpPr>
            <p:grpSpPr bwMode="auto">
              <a:xfrm>
                <a:off x="0" y="535239"/>
                <a:ext cx="3205315" cy="2004676"/>
                <a:chOff x="0" y="0"/>
                <a:chExt cx="3205315" cy="2004676"/>
              </a:xfrm>
            </p:grpSpPr>
            <p:sp>
              <p:nvSpPr>
                <p:cNvPr id="11" name="Rectangle 10"/>
                <p:cNvSpPr/>
                <p:nvPr/>
              </p:nvSpPr>
              <p:spPr bwMode="auto">
                <a:xfrm>
                  <a:off x="457476" y="0"/>
                  <a:ext cx="2720772" cy="364460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3" name="Rectangle 12"/>
                <p:cNvSpPr/>
                <p:nvPr/>
              </p:nvSpPr>
              <p:spPr bwMode="auto">
                <a:xfrm>
                  <a:off x="0" y="470178"/>
                  <a:ext cx="1492813" cy="364460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r>
                    <a:rPr lang="en-US" b="1">
                      <a:latin typeface="Times New Roman"/>
                      <a:cs typeface="Times New Roman"/>
                    </a:rPr>
                    <a:t>Password</a:t>
                  </a:r>
                  <a:endParaRPr/>
                </a:p>
              </p:txBody>
            </p:sp>
            <p:sp>
              <p:nvSpPr>
                <p:cNvPr id="15" name="Rectangle 14"/>
                <p:cNvSpPr/>
                <p:nvPr/>
              </p:nvSpPr>
              <p:spPr bwMode="auto">
                <a:xfrm>
                  <a:off x="484543" y="962507"/>
                  <a:ext cx="2720772" cy="411593"/>
                </a:xfrm>
                <a:prstGeom prst="rect">
                  <a:avLst/>
                </a:prstGeom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" name="Rectangle 15"/>
                <p:cNvSpPr/>
                <p:nvPr/>
              </p:nvSpPr>
              <p:spPr bwMode="auto">
                <a:xfrm>
                  <a:off x="765795" y="1522224"/>
                  <a:ext cx="2104133" cy="482452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r>
                    <a:rPr lang="en-US">
                      <a:latin typeface="Times New Roman"/>
                      <a:cs typeface="Times New Roman"/>
                    </a:rPr>
                    <a:t>[ Verify Account ] </a:t>
                  </a:r>
                  <a:endParaRPr/>
                </a:p>
              </p:txBody>
            </p:sp>
          </p:grpSp>
        </p:grpSp>
        <p:sp>
          <p:nvSpPr>
            <p:cNvPr id="20" name="Rectangle 19"/>
            <p:cNvSpPr/>
            <p:nvPr/>
          </p:nvSpPr>
          <p:spPr bwMode="auto">
            <a:xfrm>
              <a:off x="77674" y="1263870"/>
              <a:ext cx="4965290" cy="12543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">
                  <a:latin typeface="Times New Roman"/>
                  <a:cs typeface="Times New Roman"/>
                </a:rPr>
                <a:t>Hackura</a:t>
              </a:r>
              <a:r>
                <a:rPr lang="en-US">
                  <a:latin typeface="Times New Roman"/>
                  <a:cs typeface="Times New Roman"/>
                </a:rPr>
                <a:t> Student Verification Portal</a:t>
              </a:r>
              <a:endParaRPr/>
            </a:p>
            <a:p>
              <a:pPr algn="ctr">
                <a:defRPr/>
              </a:pPr>
              <a:endParaRPr lang="en-US">
                <a:latin typeface="Times New Roman"/>
                <a:cs typeface="Times New Roman"/>
              </a:endParaRPr>
            </a:p>
            <a:p>
              <a:pPr algn="ctr">
                <a:defRPr/>
              </a:pPr>
              <a:r>
                <a:rPr lang="en-US">
                  <a:latin typeface="Times New Roman"/>
                  <a:cs typeface="Times New Roman"/>
                </a:rPr>
                <a:t>Verify your internship account to continue</a:t>
              </a:r>
              <a:r>
                <a:rPr lang="en-US"/>
                <a:t>.</a:t>
              </a:r>
              <a:endParaRPr/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1267377" y="0"/>
              <a:ext cx="1838632" cy="41219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>
                <a:latin typeface="Times New Roman"/>
                <a:cs typeface="Times New Roman"/>
              </a:endParaRPr>
            </a:p>
            <a:p>
              <a:pPr algn="ctr">
                <a:defRPr/>
              </a:pPr>
              <a:r>
                <a:rPr lang="en-US">
                  <a:latin typeface="Times New Roman"/>
                  <a:cs typeface="Times New Roman"/>
                </a:rPr>
                <a:t>Fake Browser</a:t>
              </a:r>
              <a:endParaRPr/>
            </a:p>
            <a:p>
              <a:pPr algn="ctr">
                <a:defRPr/>
              </a:pPr>
              <a:endParaRPr lang="en-US"/>
            </a:p>
          </p:txBody>
        </p:sp>
        <p:sp>
          <p:nvSpPr>
            <p:cNvPr id="23" name="Rectangle 22"/>
            <p:cNvSpPr/>
            <p:nvPr/>
          </p:nvSpPr>
          <p:spPr bwMode="auto">
            <a:xfrm>
              <a:off x="5042964" y="1032390"/>
              <a:ext cx="4093137" cy="4227871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lnSpc>
                  <a:spcPct val="200000"/>
                </a:lnSpc>
                <a:defRPr/>
              </a:pPr>
              <a:r>
                <a:rPr lang="en-US">
                  <a:latin typeface="Times New Roman"/>
                  <a:cs typeface="Times New Roman"/>
                </a:rPr>
                <a:t>🚩 </a:t>
              </a:r>
              <a:r>
                <a:rPr lang="en-US" b="1">
                  <a:latin typeface="Times New Roman"/>
                  <a:cs typeface="Times New Roman"/>
                </a:rPr>
                <a:t>Red Flags</a:t>
              </a:r>
              <a:endParaRPr lang="en-US">
                <a:latin typeface="Times New Roman"/>
                <a:cs typeface="Times New Roman"/>
              </a:endParaRPr>
            </a:p>
            <a:p>
              <a:pPr>
                <a:lnSpc>
                  <a:spcPct val="200000"/>
                </a:lnSpc>
                <a:defRPr/>
              </a:pPr>
              <a:r>
                <a:rPr lang="en-US">
                  <a:latin typeface="Times New Roman"/>
                  <a:cs typeface="Times New Roman"/>
                </a:rPr>
                <a:t>❌ Suspicious domain name</a:t>
              </a:r>
              <a:endParaRPr/>
            </a:p>
            <a:p>
              <a:pPr>
                <a:lnSpc>
                  <a:spcPct val="200000"/>
                </a:lnSpc>
                <a:defRPr/>
              </a:pPr>
              <a:r>
                <a:rPr lang="en-US">
                  <a:latin typeface="Times New Roman"/>
                  <a:cs typeface="Times New Roman"/>
                </a:rPr>
                <a:t>❌ Requests password immediately</a:t>
              </a:r>
              <a:endParaRPr/>
            </a:p>
            <a:p>
              <a:pPr>
                <a:lnSpc>
                  <a:spcPct val="200000"/>
                </a:lnSpc>
                <a:defRPr/>
              </a:pPr>
              <a:r>
                <a:rPr lang="en-US">
                  <a:latin typeface="Times New Roman"/>
                  <a:cs typeface="Times New Roman"/>
                </a:rPr>
                <a:t>❌ Uses urgency to pressure users</a:t>
              </a:r>
              <a:endParaRPr/>
            </a:p>
            <a:p>
              <a:pPr>
                <a:lnSpc>
                  <a:spcPct val="200000"/>
                </a:lnSpc>
                <a:defRPr/>
              </a:pPr>
              <a:r>
                <a:rPr lang="en-US">
                  <a:latin typeface="Times New Roman"/>
                  <a:cs typeface="Times New Roman"/>
                </a:rPr>
                <a:t>❌ Generic login page</a:t>
              </a:r>
              <a:endParaRPr/>
            </a:p>
            <a:p>
              <a:pPr>
                <a:lnSpc>
                  <a:spcPct val="200000"/>
                </a:lnSpc>
                <a:defRPr/>
              </a:pPr>
              <a:r>
                <a:rPr lang="en-US">
                  <a:latin typeface="Times New Roman"/>
                  <a:cs typeface="Times New Roman"/>
                </a:rPr>
                <a:t>❌ Not an official </a:t>
              </a:r>
              <a:r>
                <a:rPr lang="en-US">
                  <a:latin typeface="Times New Roman"/>
                  <a:cs typeface="Times New Roman"/>
                </a:rPr>
                <a:t>CodeAlpha</a:t>
              </a:r>
              <a:r>
                <a:rPr lang="en-US">
                  <a:latin typeface="Times New Roman"/>
                  <a:cs typeface="Times New Roman"/>
                </a:rPr>
                <a:t> website</a:t>
              </a:r>
              <a:endParaRPr/>
            </a:p>
            <a:p>
              <a:pPr algn="ctr">
                <a:defRPr/>
              </a:pPr>
              <a:endParaRPr lang="en-US"/>
            </a:p>
          </p:txBody>
        </p:sp>
      </p:grpSp>
      <p:pic>
        <p:nvPicPr>
          <p:cNvPr id="1710463657" name="Content Placeholder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769098" y="5338339"/>
            <a:ext cx="2274119" cy="15196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4:ferris dir="l"/>
      </p:transition>
    </mc:Choice>
    <mc:Fallback>
      <p:transition spd="slow" advClick="1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366956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0" y="285135"/>
            <a:ext cx="9769098" cy="796413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3200" b="1">
                <a:latin typeface="Times New Roman"/>
                <a:cs typeface="Times New Roman"/>
              </a:rPr>
              <a:t>Spot the Difference: Fake vs. Legitimate Website</a:t>
            </a:r>
            <a:endParaRPr/>
          </a:p>
        </p:txBody>
      </p:sp>
      <p:pic>
        <p:nvPicPr>
          <p:cNvPr id="724547976" name="Content Placeholder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263837" y="5270090"/>
            <a:ext cx="1779380" cy="1587910"/>
          </a:xfrm>
          <a:prstGeom prst="rect">
            <a:avLst/>
          </a:prstGeom>
        </p:spPr>
      </p:pic>
      <p:sp>
        <p:nvSpPr>
          <p:cNvPr id="1915392602" name="Rectangle 7"/>
          <p:cNvSpPr/>
          <p:nvPr/>
        </p:nvSpPr>
        <p:spPr bwMode="auto">
          <a:xfrm>
            <a:off x="148784" y="6194323"/>
            <a:ext cx="9818176" cy="663677"/>
          </a:xfrm>
          <a:prstGeom prst="rect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1600">
                <a:solidFill>
                  <a:schemeClr val="bg1"/>
                </a:solidFill>
                <a:latin typeface="Times New Roman"/>
                <a:cs typeface="Times New Roman"/>
              </a:rPr>
              <a:t>🛡️ Key Takeaway: Always verify the  DOMAIN NAME before entering your username or password. Attackers can copy a website's appearance, but they cannot use the company's official domain.</a:t>
            </a:r>
            <a:endParaRPr/>
          </a:p>
        </p:txBody>
      </p:sp>
      <p:grpSp>
        <p:nvGrpSpPr>
          <p:cNvPr id="193357260" name="Group 16"/>
          <p:cNvGrpSpPr/>
          <p:nvPr/>
        </p:nvGrpSpPr>
        <p:grpSpPr bwMode="auto">
          <a:xfrm>
            <a:off x="611838" y="865239"/>
            <a:ext cx="9157261" cy="5329083"/>
            <a:chOff x="611838" y="865239"/>
            <a:chExt cx="9157261" cy="5329083"/>
          </a:xfrm>
        </p:grpSpPr>
        <p:sp>
          <p:nvSpPr>
            <p:cNvPr id="14" name="Rectangle 13"/>
            <p:cNvSpPr/>
            <p:nvPr/>
          </p:nvSpPr>
          <p:spPr bwMode="auto">
            <a:xfrm>
              <a:off x="611838" y="865239"/>
              <a:ext cx="3891284" cy="532908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 sz="1600">
                <a:latin typeface="Times New Roman"/>
                <a:cs typeface="Times New Roman"/>
              </a:endParaRPr>
            </a:p>
            <a:p>
              <a:pPr algn="ctr">
                <a:defRPr/>
              </a:pPr>
              <a:r>
                <a:rPr lang="en-US" sz="1600" b="1">
                  <a:latin typeface="Times New Roman"/>
                  <a:cs typeface="Times New Roman"/>
                </a:rPr>
                <a:t>❌ Phishing Website</a:t>
              </a:r>
              <a:endParaRPr/>
            </a:p>
            <a:p>
              <a:pPr algn="ctr">
                <a:defRPr/>
              </a:pPr>
              <a:r>
                <a:rPr lang="en-US" sz="1600" b="1">
                  <a:latin typeface="Times New Roman"/>
                  <a:cs typeface="Times New Roman"/>
                </a:rPr>
                <a:t> </a:t>
              </a:r>
              <a:endParaRPr/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 sz="2000" b="1">
                  <a:latin typeface="Times New Roman"/>
                  <a:cs typeface="Times New Roman"/>
                </a:rPr>
                <a:t>Domain Name:</a:t>
              </a:r>
              <a:endParaRPr/>
            </a:p>
            <a:p>
              <a:pPr>
                <a:defRPr/>
              </a:pPr>
              <a:r>
                <a:rPr lang="en" sz="1600">
                  <a:latin typeface="Times New Roman"/>
                  <a:cs typeface="Times New Roman"/>
                </a:rPr>
                <a:t>hackura</a:t>
              </a:r>
              <a:r>
                <a:rPr lang="en-US" sz="1600">
                  <a:latin typeface="Times New Roman"/>
                  <a:cs typeface="Times New Roman"/>
                </a:rPr>
                <a:t>-verify.net</a:t>
              </a:r>
              <a:endParaRPr/>
            </a:p>
            <a:p>
              <a:pPr>
                <a:defRPr/>
              </a:pPr>
              <a:endParaRPr lang="en-US" sz="1600">
                <a:latin typeface="Times New Roman"/>
                <a:cs typeface="Times New Roman"/>
              </a:endParaRPr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 sz="2000" b="1">
                  <a:latin typeface="Times New Roman"/>
                  <a:cs typeface="Times New Roman"/>
                </a:rPr>
                <a:t>HTTPS</a:t>
              </a:r>
              <a:endParaRPr/>
            </a:p>
            <a:p>
              <a:pPr>
                <a:defRPr/>
              </a:pPr>
              <a:r>
                <a:rPr lang="en-US" sz="1600">
                  <a:latin typeface="Times New Roman"/>
                  <a:cs typeface="Times New Roman"/>
                </a:rPr>
                <a:t>May use HTTPS to appear trustworthy</a:t>
              </a:r>
              <a:endParaRPr/>
            </a:p>
            <a:p>
              <a:pPr>
                <a:defRPr/>
              </a:pPr>
              <a:endParaRPr lang="en-US" sz="1600">
                <a:latin typeface="Times New Roman"/>
                <a:cs typeface="Times New Roman"/>
              </a:endParaRPr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 sz="2000" b="1">
                  <a:latin typeface="Times New Roman"/>
                  <a:cs typeface="Times New Roman"/>
                </a:rPr>
                <a:t>Website Design</a:t>
              </a:r>
              <a:endParaRPr/>
            </a:p>
            <a:p>
              <a:pPr>
                <a:defRPr/>
              </a:pPr>
              <a:r>
                <a:rPr lang="en-US" sz="1600">
                  <a:latin typeface="Times New Roman"/>
                  <a:cs typeface="Times New Roman"/>
                </a:rPr>
                <a:t>Similar or copied layout</a:t>
              </a:r>
              <a:endParaRPr/>
            </a:p>
            <a:p>
              <a:pPr>
                <a:defRPr/>
              </a:pPr>
              <a:endParaRPr lang="en-US" sz="1600">
                <a:latin typeface="Times New Roman"/>
                <a:cs typeface="Times New Roman"/>
              </a:endParaRPr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 sz="2000" b="1">
                  <a:latin typeface="Times New Roman"/>
                  <a:cs typeface="Times New Roman"/>
                </a:rPr>
                <a:t>Login Request </a:t>
              </a:r>
              <a:endParaRPr/>
            </a:p>
            <a:p>
              <a:pPr>
                <a:defRPr/>
              </a:pPr>
              <a:r>
                <a:rPr lang="en-US" sz="1600">
                  <a:latin typeface="Times New Roman"/>
                  <a:cs typeface="Times New Roman"/>
                </a:rPr>
                <a:t>Unexpected request to verify your account  </a:t>
              </a:r>
              <a:endParaRPr/>
            </a:p>
            <a:p>
              <a:pPr>
                <a:defRPr/>
              </a:pPr>
              <a:endParaRPr lang="en-US" sz="1600">
                <a:latin typeface="Times New Roman"/>
                <a:cs typeface="Times New Roman"/>
              </a:endParaRPr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 sz="2000" b="1">
                  <a:latin typeface="Times New Roman"/>
                  <a:cs typeface="Times New Roman"/>
                </a:rPr>
                <a:t>Contact Information</a:t>
              </a:r>
              <a:endParaRPr/>
            </a:p>
            <a:p>
              <a:pPr>
                <a:defRPr/>
              </a:pPr>
              <a:r>
                <a:rPr lang="en-US" sz="1600">
                  <a:latin typeface="Times New Roman"/>
                  <a:cs typeface="Times New Roman"/>
                </a:rPr>
                <a:t> Missing, fake, or limited</a:t>
              </a:r>
              <a:endParaRPr/>
            </a:p>
            <a:p>
              <a:pPr>
                <a:defRPr/>
              </a:pPr>
              <a:endParaRPr lang="en-US" sz="1600">
                <a:latin typeface="Times New Roman"/>
                <a:cs typeface="Times New Roman"/>
              </a:endParaRPr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 sz="2000" b="1">
                  <a:latin typeface="Times New Roman"/>
                  <a:cs typeface="Times New Roman"/>
                </a:rPr>
                <a:t>Grammar &amp; Spelling </a:t>
              </a:r>
              <a:endParaRPr/>
            </a:p>
            <a:p>
              <a:pPr>
                <a:defRPr/>
              </a:pPr>
              <a:r>
                <a:rPr lang="en-US" sz="1600">
                  <a:latin typeface="Times New Roman"/>
                  <a:cs typeface="Times New Roman"/>
                </a:rPr>
                <a:t>Errors or unusual wording</a:t>
              </a:r>
              <a:endParaRPr/>
            </a:p>
            <a:p>
              <a:pPr algn="ctr">
                <a:defRPr/>
              </a:pPr>
              <a:endParaRPr lang="en-US" sz="1400">
                <a:latin typeface="Times New Roman"/>
                <a:cs typeface="Times New Roman"/>
              </a:endParaRPr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4503123" y="865239"/>
              <a:ext cx="5265976" cy="532908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lang="en-US" sz="1600" b="1">
                  <a:latin typeface="Times New Roman"/>
                  <a:cs typeface="Times New Roman"/>
                </a:rPr>
                <a:t>✅ Legitimate Website</a:t>
              </a:r>
              <a:endParaRPr/>
            </a:p>
            <a:p>
              <a:pPr algn="ctr">
                <a:defRPr/>
              </a:pPr>
              <a:endParaRPr lang="en-US" sz="1600">
                <a:latin typeface="Times New Roman"/>
                <a:cs typeface="Times New Roman"/>
              </a:endParaRPr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 sz="2000" b="1">
                  <a:latin typeface="Times New Roman"/>
                  <a:cs typeface="Times New Roman"/>
                </a:rPr>
                <a:t>Domain Name:</a:t>
              </a:r>
              <a:endParaRPr/>
            </a:p>
            <a:p>
              <a:pPr>
                <a:defRPr/>
              </a:pPr>
              <a:r>
                <a:rPr lang="en" sz="1600">
                  <a:latin typeface="Times New Roman"/>
                  <a:cs typeface="Times New Roman"/>
                </a:rPr>
                <a:t>Hackura.app</a:t>
              </a:r>
              <a:endParaRPr lang="en-US" sz="1600">
                <a:latin typeface="Times New Roman"/>
                <a:cs typeface="Times New Roman"/>
              </a:endParaRPr>
            </a:p>
            <a:p>
              <a:pPr>
                <a:defRPr/>
              </a:pPr>
              <a:endParaRPr lang="en-US" sz="1600">
                <a:latin typeface="Times New Roman"/>
                <a:cs typeface="Times New Roman"/>
              </a:endParaRPr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 sz="2000" b="1">
                  <a:latin typeface="Times New Roman"/>
                  <a:cs typeface="Times New Roman"/>
                </a:rPr>
                <a:t>HTTPS</a:t>
              </a:r>
              <a:endParaRPr/>
            </a:p>
            <a:p>
              <a:pPr>
                <a:defRPr/>
              </a:pPr>
              <a:r>
                <a:rPr lang="en-US" sz="1600">
                  <a:latin typeface="Times New Roman"/>
                  <a:cs typeface="Times New Roman"/>
                </a:rPr>
                <a:t>May use HTTPS with official company domain</a:t>
              </a:r>
              <a:endParaRPr/>
            </a:p>
            <a:p>
              <a:pPr>
                <a:defRPr/>
              </a:pPr>
              <a:endParaRPr lang="en-US" sz="1600">
                <a:latin typeface="Times New Roman"/>
                <a:cs typeface="Times New Roman"/>
              </a:endParaRPr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 sz="2000" b="1">
                  <a:latin typeface="Times New Roman"/>
                  <a:cs typeface="Times New Roman"/>
                </a:rPr>
                <a:t>Website Design</a:t>
              </a:r>
              <a:endParaRPr/>
            </a:p>
            <a:p>
              <a:pPr>
                <a:defRPr/>
              </a:pPr>
              <a:r>
                <a:rPr lang="en-US" sz="1600">
                  <a:latin typeface="Times New Roman"/>
                  <a:cs typeface="Times New Roman"/>
                </a:rPr>
                <a:t>Official branding and consistent design</a:t>
              </a:r>
              <a:endParaRPr/>
            </a:p>
            <a:p>
              <a:pPr>
                <a:defRPr/>
              </a:pPr>
              <a:endParaRPr lang="en-US" sz="1600">
                <a:latin typeface="Times New Roman"/>
                <a:cs typeface="Times New Roman"/>
              </a:endParaRPr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 sz="1600">
                  <a:latin typeface="Times New Roman"/>
                  <a:cs typeface="Times New Roman"/>
                </a:rPr>
                <a:t> </a:t>
              </a:r>
              <a:r>
                <a:rPr lang="en-US" sz="2000" b="1">
                  <a:latin typeface="Times New Roman"/>
                  <a:cs typeface="Times New Roman"/>
                </a:rPr>
                <a:t>Login Request</a:t>
              </a:r>
              <a:endParaRPr/>
            </a:p>
            <a:p>
              <a:pPr>
                <a:defRPr/>
              </a:pPr>
              <a:r>
                <a:rPr lang="en-US" sz="1600">
                  <a:latin typeface="Times New Roman"/>
                  <a:cs typeface="Times New Roman"/>
                </a:rPr>
                <a:t>Normal login only when you intentionally visit the website</a:t>
              </a:r>
              <a:endParaRPr/>
            </a:p>
            <a:p>
              <a:pPr>
                <a:defRPr/>
              </a:pPr>
              <a:endParaRPr lang="en-US" sz="1600">
                <a:latin typeface="Times New Roman"/>
                <a:cs typeface="Times New Roman"/>
              </a:endParaRPr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 sz="2000" b="1">
                  <a:latin typeface="Times New Roman"/>
                  <a:cs typeface="Times New Roman"/>
                </a:rPr>
                <a:t>Contact Information</a:t>
              </a:r>
              <a:endParaRPr/>
            </a:p>
            <a:p>
              <a:pPr>
                <a:defRPr/>
              </a:pPr>
              <a:r>
                <a:rPr lang="en-US" sz="1600">
                  <a:latin typeface="Times New Roman"/>
                  <a:cs typeface="Times New Roman"/>
                </a:rPr>
                <a:t>Official company contact details</a:t>
              </a:r>
              <a:endParaRPr/>
            </a:p>
            <a:p>
              <a:pPr>
                <a:defRPr/>
              </a:pPr>
              <a:endParaRPr lang="en-US" sz="1600">
                <a:latin typeface="Times New Roman"/>
                <a:cs typeface="Times New Roman"/>
              </a:endParaRPr>
            </a:p>
            <a:p>
              <a:pPr marL="285750" indent="-285750">
                <a:buFont typeface="Arial"/>
                <a:buChar char="•"/>
                <a:defRPr/>
              </a:pPr>
              <a:r>
                <a:rPr lang="en-US" sz="2000" b="1">
                  <a:latin typeface="Times New Roman"/>
                  <a:cs typeface="Times New Roman"/>
                </a:rPr>
                <a:t>Grammar &amp; Spelling </a:t>
              </a:r>
              <a:endParaRPr/>
            </a:p>
            <a:p>
              <a:pPr>
                <a:defRPr/>
              </a:pPr>
              <a:r>
                <a:rPr lang="en-US" sz="1600">
                  <a:latin typeface="Times New Roman"/>
                  <a:cs typeface="Times New Roman"/>
                </a:rPr>
                <a:t>Clear and professional language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4:prism dir="l" isContent="1" isInverted="0"/>
      </p:transition>
    </mc:Choice>
    <mc:Fallback>
      <p:transition spd="slow" advClick="1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868213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678426" y="216309"/>
            <a:ext cx="8596313" cy="619125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sz="2800" b="1">
                <a:latin typeface="Times New Roman"/>
                <a:cs typeface="Times New Roman"/>
              </a:rPr>
              <a:t>Social Engineering Techniques Used by Attackers</a:t>
            </a:r>
            <a:endParaRPr lang="en-US" sz="2800"/>
          </a:p>
        </p:txBody>
      </p:sp>
      <p:grpSp>
        <p:nvGrpSpPr>
          <p:cNvPr id="1423828142" name="Group 21"/>
          <p:cNvGrpSpPr/>
          <p:nvPr/>
        </p:nvGrpSpPr>
        <p:grpSpPr bwMode="auto">
          <a:xfrm>
            <a:off x="678426" y="1002583"/>
            <a:ext cx="9026013" cy="4454320"/>
            <a:chOff x="393289" y="835433"/>
            <a:chExt cx="8703011" cy="4321891"/>
          </a:xfrm>
        </p:grpSpPr>
        <p:sp>
          <p:nvSpPr>
            <p:cNvPr id="4" name="Rectangle 3"/>
            <p:cNvSpPr/>
            <p:nvPr/>
          </p:nvSpPr>
          <p:spPr bwMode="auto">
            <a:xfrm>
              <a:off x="393289" y="835435"/>
              <a:ext cx="8703011" cy="432189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393290" y="835433"/>
              <a:ext cx="4602957" cy="1367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endParaRPr lang="en-US" sz="2400">
                <a:solidFill>
                  <a:srgbClr val="FF00FF"/>
                </a:solidFill>
                <a:latin typeface="Times New Roman"/>
                <a:cs typeface="Times New Roman"/>
              </a:endParaRPr>
            </a:p>
            <a:p>
              <a:pPr>
                <a:defRPr/>
              </a:pPr>
              <a:r>
                <a:rPr lang="en-US" sz="2800" b="1">
                  <a:solidFill>
                    <a:srgbClr val="FF00FF"/>
                  </a:solidFill>
                  <a:latin typeface="Times New Roman"/>
                  <a:cs typeface="Times New Roman"/>
                </a:rPr>
                <a:t>🎭 Impersonation</a:t>
              </a:r>
              <a:endParaRPr/>
            </a:p>
            <a:p>
              <a:pPr>
                <a:defRPr/>
              </a:pPr>
              <a:r>
                <a:rPr lang="en-US" sz="2000">
                  <a:solidFill>
                    <a:srgbClr val="FF00FF"/>
                  </a:solidFill>
                  <a:latin typeface="Times New Roman"/>
                  <a:cs typeface="Times New Roman"/>
                </a:rPr>
                <a:t>Pretending to be a trusted company or person.</a:t>
              </a:r>
              <a:r>
                <a:rPr lang="en-US" sz="1400">
                  <a:solidFill>
                    <a:srgbClr val="FF00FF"/>
                  </a:solidFill>
                  <a:latin typeface="Times New Roman"/>
                  <a:cs typeface="Times New Roman"/>
                </a:rPr>
                <a:t> </a:t>
              </a:r>
              <a:endParaRPr/>
            </a:p>
            <a:p>
              <a:pPr>
                <a:defRPr/>
              </a:pPr>
              <a:endParaRPr lang="en-US" sz="900">
                <a:latin typeface="Times New Roman"/>
                <a:cs typeface="Times New Roman"/>
              </a:endParaRPr>
            </a:p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412956" y="2202579"/>
              <a:ext cx="4573462" cy="1464853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endParaRPr lang="en-US" sz="2000">
                <a:latin typeface="Times New Roman"/>
                <a:cs typeface="Times New Roman"/>
              </a:endParaRPr>
            </a:p>
            <a:p>
              <a:pPr>
                <a:defRPr/>
              </a:pPr>
              <a:endParaRPr lang="en-US" sz="2000">
                <a:latin typeface="Times New Roman"/>
                <a:cs typeface="Times New Roman"/>
              </a:endParaRPr>
            </a:p>
            <a:p>
              <a:pPr>
                <a:defRPr/>
              </a:pPr>
              <a:r>
                <a:rPr lang="en-US" sz="2800" b="1">
                  <a:latin typeface="Times New Roman"/>
                  <a:cs typeface="Times New Roman"/>
                </a:rPr>
                <a:t>🎁 </a:t>
              </a:r>
              <a:r>
                <a:rPr lang="en-US" sz="2800" b="1">
                  <a:solidFill>
                    <a:srgbClr val="FF9900"/>
                  </a:solidFill>
                  <a:latin typeface="Times New Roman"/>
                  <a:cs typeface="Times New Roman"/>
                </a:rPr>
                <a:t>Baiting</a:t>
              </a:r>
              <a:endParaRPr/>
            </a:p>
            <a:p>
              <a:pPr>
                <a:defRPr/>
              </a:pPr>
              <a:r>
                <a:rPr lang="en-US" sz="2000">
                  <a:solidFill>
                    <a:srgbClr val="FF9900"/>
                  </a:solidFill>
                  <a:latin typeface="Times New Roman"/>
                  <a:cs typeface="Times New Roman"/>
                </a:rPr>
                <a:t>Offers fake rewards, gifts, internship with monthly, payment or job opportunities.</a:t>
              </a:r>
              <a:endParaRPr/>
            </a:p>
            <a:p>
              <a:pPr>
                <a:defRPr/>
              </a:pPr>
              <a:endParaRPr lang="en-US" sz="1050">
                <a:solidFill>
                  <a:srgbClr val="FF9900"/>
                </a:solidFill>
                <a:latin typeface="Times New Roman"/>
                <a:cs typeface="Times New Roman"/>
              </a:endParaRPr>
            </a:p>
            <a:p>
              <a:pPr algn="ctr">
                <a:defRPr/>
              </a:pPr>
              <a:endParaRPr lang="en-US"/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393289" y="3667432"/>
              <a:ext cx="4602957" cy="147483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endParaRPr lang="en-US" sz="1600">
                <a:latin typeface="Times New Roman"/>
                <a:cs typeface="Times New Roman"/>
              </a:endParaRPr>
            </a:p>
            <a:p>
              <a:pPr>
                <a:defRPr/>
              </a:pPr>
              <a:r>
                <a:rPr lang="en-US" sz="2000" b="1">
                  <a:latin typeface="Times New Roman"/>
                  <a:cs typeface="Times New Roman"/>
                </a:rPr>
                <a:t>🤝 </a:t>
              </a:r>
              <a:r>
                <a:rPr lang="en-US" sz="2800" b="1">
                  <a:solidFill>
                    <a:srgbClr val="00B050"/>
                  </a:solidFill>
                  <a:latin typeface="Times New Roman"/>
                  <a:cs typeface="Times New Roman"/>
                </a:rPr>
                <a:t>Trust </a:t>
              </a:r>
              <a:endParaRPr/>
            </a:p>
            <a:p>
              <a:pPr>
                <a:defRPr/>
              </a:pPr>
              <a:r>
                <a:rPr lang="en-US" sz="2000">
                  <a:solidFill>
                    <a:srgbClr val="00B050"/>
                  </a:solidFill>
                  <a:latin typeface="Times New Roman"/>
                  <a:cs typeface="Times New Roman"/>
                </a:rPr>
                <a:t>Uses familiar brands like </a:t>
              </a:r>
              <a:r>
                <a:rPr lang="en-US" sz="2000">
                  <a:solidFill>
                    <a:srgbClr val="00B050"/>
                  </a:solidFill>
                  <a:latin typeface="Times New Roman"/>
                  <a:cs typeface="Times New Roman"/>
                </a:rPr>
                <a:t>CodeAlpha</a:t>
              </a:r>
              <a:r>
                <a:rPr lang="en-US" sz="2000">
                  <a:solidFill>
                    <a:srgbClr val="00B050"/>
                  </a:solidFill>
                  <a:latin typeface="Times New Roman"/>
                  <a:cs typeface="Times New Roman"/>
                </a:rPr>
                <a:t>, banks, Google. </a:t>
              </a:r>
              <a:endParaRPr/>
            </a:p>
            <a:p>
              <a:pPr>
                <a:defRPr/>
              </a:pPr>
              <a:endParaRPr lang="en-US">
                <a:solidFill>
                  <a:srgbClr val="00B050"/>
                </a:solidFill>
                <a:latin typeface="Times New Roman"/>
                <a:cs typeface="Times New Roman"/>
              </a:endParaRPr>
            </a:p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5006085" y="835433"/>
              <a:ext cx="4080380" cy="1367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en-US" sz="2400" b="1">
                  <a:latin typeface="Times New Roman"/>
                  <a:cs typeface="Times New Roman"/>
                </a:rPr>
                <a:t>🚨 </a:t>
              </a:r>
              <a:r>
                <a:rPr lang="en-US" sz="2800" b="1">
                  <a:solidFill>
                    <a:srgbClr val="C00000"/>
                  </a:solidFill>
                  <a:latin typeface="Times New Roman"/>
                  <a:cs typeface="Times New Roman"/>
                </a:rPr>
                <a:t>Urgency</a:t>
              </a:r>
              <a:endParaRPr/>
            </a:p>
            <a:p>
              <a:pPr>
                <a:defRPr/>
              </a:pPr>
              <a:r>
                <a:rPr lang="en-US" sz="2000">
                  <a:solidFill>
                    <a:srgbClr val="C00000"/>
                  </a:solidFill>
                  <a:latin typeface="Times New Roman"/>
                  <a:cs typeface="Times New Roman"/>
                </a:rPr>
                <a:t> "Verify within 24 hours!"  </a:t>
              </a:r>
              <a:endParaRPr/>
            </a:p>
            <a:p>
              <a:pPr>
                <a:defRPr/>
              </a:pPr>
              <a:r>
                <a:rPr lang="en-US" sz="2000">
                  <a:solidFill>
                    <a:srgbClr val="C00000"/>
                  </a:solidFill>
                  <a:latin typeface="Times New Roman"/>
                  <a:cs typeface="Times New Roman"/>
                </a:rPr>
                <a:t>Pressures victims to act fast. </a:t>
              </a:r>
              <a:endParaRPr/>
            </a:p>
            <a:p>
              <a:pPr algn="ctr">
                <a:defRPr/>
              </a:pPr>
              <a:endParaRPr lang="en-US" sz="2000"/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5006081" y="2207646"/>
              <a:ext cx="4090219" cy="147483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en-US" sz="2400" b="1">
                  <a:latin typeface="Times New Roman"/>
                  <a:cs typeface="Times New Roman"/>
                </a:rPr>
                <a:t>😨 </a:t>
              </a:r>
              <a:r>
                <a:rPr lang="en-US" sz="2800" b="1">
                  <a:solidFill>
                    <a:srgbClr val="00B0F0"/>
                  </a:solidFill>
                  <a:latin typeface="Times New Roman"/>
                  <a:cs typeface="Times New Roman"/>
                </a:rPr>
                <a:t>Fear </a:t>
              </a:r>
              <a:endParaRPr/>
            </a:p>
            <a:p>
              <a:pPr>
                <a:defRPr/>
              </a:pPr>
              <a:r>
                <a:rPr lang="en-US" sz="2000">
                  <a:solidFill>
                    <a:srgbClr val="00B0F0"/>
                  </a:solidFill>
                  <a:latin typeface="Times New Roman"/>
                  <a:cs typeface="Times New Roman"/>
                </a:rPr>
                <a:t>Threatens account suspension or data loss. </a:t>
              </a:r>
              <a:endParaRPr/>
            </a:p>
            <a:p>
              <a:pPr algn="ctr">
                <a:defRPr/>
              </a:pPr>
              <a:endParaRPr lang="en-US" sz="2000"/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4996246" y="3682485"/>
              <a:ext cx="4090219" cy="1474839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en-US" sz="2000" b="1">
                  <a:latin typeface="Times New Roman"/>
                  <a:cs typeface="Times New Roman"/>
                </a:rPr>
                <a:t>🔒 </a:t>
              </a:r>
              <a:r>
                <a:rPr lang="en-US" sz="2800" b="1">
                  <a:solidFill>
                    <a:srgbClr val="009999"/>
                  </a:solidFill>
                  <a:latin typeface="Times New Roman"/>
                  <a:cs typeface="Times New Roman"/>
                </a:rPr>
                <a:t>Authority</a:t>
              </a:r>
              <a:endParaRPr/>
            </a:p>
            <a:p>
              <a:pPr>
                <a:defRPr/>
              </a:pPr>
              <a:r>
                <a:rPr lang="en-US" sz="2000">
                  <a:solidFill>
                    <a:srgbClr val="009999"/>
                  </a:solidFill>
                  <a:latin typeface="Times New Roman"/>
                  <a:cs typeface="Times New Roman"/>
                </a:rPr>
                <a:t> Pretends to be IT support, HR, or company management</a:t>
              </a:r>
              <a:r>
                <a:rPr lang="en-US" sz="900">
                  <a:solidFill>
                    <a:srgbClr val="009999"/>
                  </a:solidFill>
                  <a:latin typeface="Times New Roman"/>
                  <a:cs typeface="Times New Roman"/>
                </a:rPr>
                <a:t>. </a:t>
              </a:r>
              <a:endParaRPr/>
            </a:p>
            <a:p>
              <a:pPr algn="ctr">
                <a:defRPr/>
              </a:pPr>
              <a:endParaRPr lang="en-US" sz="1600"/>
            </a:p>
          </p:txBody>
        </p:sp>
      </p:grpSp>
      <p:sp>
        <p:nvSpPr>
          <p:cNvPr id="467187144" name="Rectangle 24"/>
          <p:cNvSpPr/>
          <p:nvPr/>
        </p:nvSpPr>
        <p:spPr bwMode="auto">
          <a:xfrm>
            <a:off x="639096" y="5472416"/>
            <a:ext cx="9026013" cy="1169275"/>
          </a:xfrm>
          <a:prstGeom prst="rect">
            <a:avLst/>
          </a:prstGeom>
          <a:solidFill>
            <a:srgbClr val="00800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>
                <a:solidFill>
                  <a:schemeClr val="bg1"/>
                </a:solidFill>
                <a:latin typeface="Times New Roman"/>
                <a:cs typeface="Times New Roman"/>
              </a:rPr>
              <a:t>🛡️ Key Takeaway Attackers often exploit human emotions rather than technical vulnerabilities. Stay calm, verify requests, and never rush to click suspicious links.</a:t>
            </a:r>
            <a:endParaRPr/>
          </a:p>
        </p:txBody>
      </p:sp>
      <p:pic>
        <p:nvPicPr>
          <p:cNvPr id="1385352707" name="Content Placeholder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950244" y="5329083"/>
            <a:ext cx="2073306" cy="14453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50" advClick="1">
        <p:fade thruBlk="0"/>
      </p:transition>
    </mc:Choice>
    <mc:Fallback>
      <p:transition spd="slow" advClick="1">
        <p:fade thruBlk="0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5055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782362" y="97759"/>
            <a:ext cx="8596313" cy="846138"/>
          </a:xfrm>
        </p:spPr>
        <p:txBody>
          <a:bodyPr/>
          <a:lstStyle/>
          <a:p>
            <a:pPr algn="ctr">
              <a:defRPr/>
            </a:pPr>
            <a:r>
              <a:rPr lang="en-US" b="1">
                <a:latin typeface="Times New Roman"/>
                <a:cs typeface="Times New Roman"/>
              </a:rPr>
              <a:t>Best Practices to Prevent Phishing Attacks</a:t>
            </a:r>
            <a:endParaRPr/>
          </a:p>
        </p:txBody>
      </p:sp>
      <p:pic>
        <p:nvPicPr>
          <p:cNvPr id="295015926" name="Content Placeholder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651111" y="5181600"/>
            <a:ext cx="2274119" cy="1548580"/>
          </a:xfrm>
          <a:prstGeom prst="rect">
            <a:avLst/>
          </a:prstGeom>
        </p:spPr>
      </p:pic>
      <p:grpSp>
        <p:nvGrpSpPr>
          <p:cNvPr id="1605896329" name="Group 17"/>
          <p:cNvGrpSpPr/>
          <p:nvPr/>
        </p:nvGrpSpPr>
        <p:grpSpPr bwMode="auto">
          <a:xfrm>
            <a:off x="324465" y="993057"/>
            <a:ext cx="9054211" cy="4406951"/>
            <a:chOff x="324465" y="993057"/>
            <a:chExt cx="9054211" cy="4406951"/>
          </a:xfrm>
        </p:grpSpPr>
        <p:sp>
          <p:nvSpPr>
            <p:cNvPr id="6" name="Rectangle 5"/>
            <p:cNvSpPr/>
            <p:nvPr/>
          </p:nvSpPr>
          <p:spPr bwMode="auto">
            <a:xfrm>
              <a:off x="324466" y="993058"/>
              <a:ext cx="9054210" cy="440695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24465" y="993058"/>
              <a:ext cx="4817806" cy="146500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en-US" sz="2400">
                  <a:latin typeface="Times New Roman"/>
                  <a:cs typeface="Times New Roman"/>
                </a:rPr>
                <a:t> </a:t>
              </a:r>
              <a:r>
                <a:rPr lang="en-US" sz="2400" b="1">
                  <a:latin typeface="Times New Roman"/>
                  <a:cs typeface="Times New Roman"/>
                </a:rPr>
                <a:t>🟩 Verify the Sender</a:t>
              </a:r>
              <a:endParaRPr/>
            </a:p>
            <a:p>
              <a:pPr>
                <a:defRPr/>
              </a:pPr>
              <a:r>
                <a:rPr lang="en-US" sz="2400">
                  <a:latin typeface="Times New Roman"/>
                  <a:cs typeface="Times New Roman"/>
                </a:rPr>
                <a:t>Confirm the sender's email address.</a:t>
              </a:r>
              <a:endParaRPr/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324465" y="3915697"/>
              <a:ext cx="4817806" cy="146500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en-US" sz="2400">
                  <a:latin typeface="Times New Roman"/>
                  <a:cs typeface="Times New Roman"/>
                </a:rPr>
                <a:t> </a:t>
              </a:r>
              <a:r>
                <a:rPr lang="en-US" sz="2400" b="1">
                  <a:latin typeface="Times New Roman"/>
                  <a:cs typeface="Times New Roman"/>
                </a:rPr>
                <a:t>🚫 Never Share Passwords </a:t>
              </a:r>
              <a:endParaRPr/>
            </a:p>
            <a:p>
              <a:pPr>
                <a:defRPr/>
              </a:pPr>
              <a:r>
                <a:rPr lang="en-US" sz="2400">
                  <a:latin typeface="Times New Roman"/>
                  <a:cs typeface="Times New Roman"/>
                </a:rPr>
                <a:t>Legitimate organizations</a:t>
              </a:r>
              <a:endParaRPr/>
            </a:p>
            <a:p>
              <a:pPr>
                <a:defRPr/>
              </a:pPr>
              <a:r>
                <a:rPr lang="en-US" sz="2400">
                  <a:latin typeface="Times New Roman"/>
                  <a:cs typeface="Times New Roman"/>
                </a:rPr>
                <a:t>won't ask via email.</a:t>
              </a:r>
              <a:endParaRPr/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324465" y="2450690"/>
              <a:ext cx="4817806" cy="146500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en-US" sz="2400" b="1">
                  <a:latin typeface="Times New Roman"/>
                  <a:cs typeface="Times New Roman"/>
                </a:rPr>
                <a:t>🔐 Enable MFA   </a:t>
              </a:r>
              <a:endParaRPr/>
            </a:p>
            <a:p>
              <a:pPr>
                <a:defRPr/>
              </a:pPr>
              <a:r>
                <a:rPr lang="en-US" sz="2400">
                  <a:latin typeface="Times New Roman"/>
                  <a:cs typeface="Times New Roman"/>
                </a:rPr>
                <a:t>Add an extra security          </a:t>
              </a:r>
              <a:endParaRPr/>
            </a:p>
            <a:p>
              <a:pPr>
                <a:defRPr/>
              </a:pPr>
              <a:r>
                <a:rPr lang="en-US" sz="2400">
                  <a:latin typeface="Times New Roman"/>
                  <a:cs typeface="Times New Roman"/>
                </a:rPr>
                <a:t>layer to your accounts.</a:t>
              </a:r>
              <a:endParaRPr/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5142271" y="3935001"/>
              <a:ext cx="4236404" cy="146500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en-US" sz="2400" b="1">
                  <a:latin typeface="Times New Roman"/>
                  <a:cs typeface="Times New Roman"/>
                </a:rPr>
                <a:t>⚠️ Report Suspicious Emails      </a:t>
              </a:r>
              <a:endParaRPr/>
            </a:p>
            <a:p>
              <a:pPr>
                <a:defRPr/>
              </a:pPr>
              <a:r>
                <a:rPr lang="en-US" sz="2400">
                  <a:latin typeface="Times New Roman"/>
                  <a:cs typeface="Times New Roman"/>
                </a:rPr>
                <a:t>  Report phishing emails to your  </a:t>
              </a:r>
              <a:endParaRPr/>
            </a:p>
            <a:p>
              <a:pPr>
                <a:defRPr/>
              </a:pPr>
              <a:r>
                <a:rPr lang="en-US" sz="2400">
                  <a:latin typeface="Times New Roman"/>
                  <a:cs typeface="Times New Roman"/>
                </a:rPr>
                <a:t>IT team or email provider. </a:t>
              </a:r>
              <a:endParaRPr/>
            </a:p>
          </p:txBody>
        </p:sp>
        <p:sp>
          <p:nvSpPr>
            <p:cNvPr id="15" name="Rectangle 14"/>
            <p:cNvSpPr/>
            <p:nvPr/>
          </p:nvSpPr>
          <p:spPr bwMode="auto">
            <a:xfrm>
              <a:off x="5142271" y="2458064"/>
              <a:ext cx="4236404" cy="146500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en-US" sz="2400" b="1">
                  <a:latin typeface="Times New Roman"/>
                  <a:cs typeface="Times New Roman"/>
                </a:rPr>
                <a:t>🔄 Keep Software Updated      </a:t>
              </a:r>
              <a:endParaRPr/>
            </a:p>
            <a:p>
              <a:pPr>
                <a:defRPr/>
              </a:pPr>
              <a:r>
                <a:rPr lang="en-US" sz="2400">
                  <a:latin typeface="Times New Roman"/>
                  <a:cs typeface="Times New Roman"/>
                </a:rPr>
                <a:t>Install updates to fix known    </a:t>
              </a:r>
              <a:endParaRPr/>
            </a:p>
            <a:p>
              <a:pPr>
                <a:defRPr/>
              </a:pPr>
              <a:r>
                <a:rPr lang="en-US" sz="2400">
                  <a:latin typeface="Times New Roman"/>
                  <a:cs typeface="Times New Roman"/>
                </a:rPr>
                <a:t>security vulnerabilities. </a:t>
              </a:r>
              <a:endParaRPr/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5142271" y="993057"/>
              <a:ext cx="4236404" cy="1465007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en-US" sz="2400" b="1">
                  <a:latin typeface="Times New Roman"/>
                  <a:cs typeface="Times New Roman"/>
                </a:rPr>
                <a:t>🔗 Check Links                   </a:t>
              </a:r>
              <a:endParaRPr/>
            </a:p>
            <a:p>
              <a:pPr>
                <a:defRPr/>
              </a:pPr>
              <a:r>
                <a:rPr lang="en-US" sz="2400">
                  <a:latin typeface="Times New Roman"/>
                  <a:cs typeface="Times New Roman"/>
                </a:rPr>
                <a:t> Hover over links before clicking</a:t>
              </a:r>
              <a:endParaRPr/>
            </a:p>
            <a:p>
              <a:pPr>
                <a:defRPr/>
              </a:pPr>
              <a:r>
                <a:rPr lang="en-US" sz="2400">
                  <a:latin typeface="Times New Roman"/>
                  <a:cs typeface="Times New Roman"/>
                </a:rPr>
                <a:t>and verify the destination.</a:t>
              </a:r>
              <a:endParaRPr/>
            </a:p>
          </p:txBody>
        </p:sp>
      </p:grpSp>
      <p:sp>
        <p:nvSpPr>
          <p:cNvPr id="795280548" name="Rectangle 18"/>
          <p:cNvSpPr/>
          <p:nvPr/>
        </p:nvSpPr>
        <p:spPr bwMode="auto">
          <a:xfrm>
            <a:off x="782362" y="5651958"/>
            <a:ext cx="7752038" cy="95372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  <a:latin typeface="Times New Roman"/>
                <a:cs typeface="Times New Roman"/>
              </a:rPr>
              <a:t>🛡️ Think Before You Click</a:t>
            </a:r>
            <a:endParaRPr/>
          </a:p>
          <a:p>
            <a:pPr>
              <a:defRPr/>
            </a:pPr>
            <a:r>
              <a:rPr lang="en-US">
                <a:solidFill>
                  <a:schemeClr val="bg1"/>
                </a:solidFill>
                <a:latin typeface="Times New Roman"/>
                <a:cs typeface="Times New Roman"/>
              </a:rPr>
              <a:t>Always verify emails, links, and websites before entering your credentials.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50" advClick="1">
        <p14:switch dir="r"/>
      </p:transition>
    </mc:Choice>
    <mc:Fallback>
      <p:transition spd="slow" advClick="1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680284" name="Title 1"/>
          <p:cNvSpPr>
            <a:spLocks noGrp="1"/>
          </p:cNvSpPr>
          <p:nvPr>
            <p:ph type="title" idx="4294967295"/>
          </p:nvPr>
        </p:nvSpPr>
        <p:spPr bwMode="auto">
          <a:xfrm>
            <a:off x="374965" y="111760"/>
            <a:ext cx="8596313" cy="637250"/>
          </a:xfrm>
          <a:prstGeom prst="rect">
            <a:avLst/>
          </a:prstGeom>
          <a:solidFill>
            <a:srgbClr val="002060"/>
          </a:solidFill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b="1">
                <a:solidFill>
                  <a:schemeClr val="bg1"/>
                </a:solidFill>
              </a:rPr>
              <a:t>❓ </a:t>
            </a:r>
            <a:r>
              <a:rPr lang="en-US" b="1">
                <a:solidFill>
                  <a:schemeClr val="bg1"/>
                </a:solidFill>
                <a:latin typeface="Times New Roman"/>
                <a:cs typeface="Times New Roman"/>
              </a:rPr>
              <a:t>Interactive Quiz: Spot the Phishing Signs</a:t>
            </a:r>
            <a:endParaRPr/>
          </a:p>
        </p:txBody>
      </p:sp>
      <p:pic>
        <p:nvPicPr>
          <p:cNvPr id="864305051" name="Content Placeholder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030637" y="5293360"/>
            <a:ext cx="2090244" cy="1453863"/>
          </a:xfrm>
          <a:prstGeom prst="rect">
            <a:avLst/>
          </a:prstGeom>
        </p:spPr>
      </p:pic>
      <p:grpSp>
        <p:nvGrpSpPr>
          <p:cNvPr id="687372397" name="Group 15"/>
          <p:cNvGrpSpPr/>
          <p:nvPr/>
        </p:nvGrpSpPr>
        <p:grpSpPr bwMode="auto">
          <a:xfrm>
            <a:off x="284478" y="853440"/>
            <a:ext cx="9144001" cy="5354319"/>
            <a:chOff x="284479" y="680721"/>
            <a:chExt cx="8961120" cy="5288304"/>
          </a:xfrm>
        </p:grpSpPr>
        <p:sp>
          <p:nvSpPr>
            <p:cNvPr id="6" name="Rectangle 5"/>
            <p:cNvSpPr/>
            <p:nvPr/>
          </p:nvSpPr>
          <p:spPr bwMode="auto">
            <a:xfrm>
              <a:off x="284480" y="680721"/>
              <a:ext cx="8961118" cy="5288304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284480" y="680721"/>
              <a:ext cx="8961118" cy="173735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342900" indent="-342900">
                <a:buAutoNum type="arabicPeriod"/>
                <a:defRPr/>
              </a:pPr>
              <a:r>
                <a:rPr lang="en-US">
                  <a:latin typeface="Times New Roman"/>
                  <a:cs typeface="Times New Roman"/>
                </a:rPr>
                <a:t>Which of the following is a common sign of a phishing email?</a:t>
              </a:r>
              <a:endParaRPr/>
            </a:p>
            <a:p>
              <a:pPr>
                <a:defRPr/>
              </a:pPr>
              <a:endParaRPr lang="en-US">
                <a:latin typeface="Times New Roman"/>
                <a:cs typeface="Times New Roman"/>
              </a:endParaRPr>
            </a:p>
            <a:p>
              <a:pPr>
                <a:defRPr/>
              </a:pPr>
              <a:r>
                <a:rPr lang="en-US">
                  <a:latin typeface="Times New Roman"/>
                  <a:cs typeface="Times New Roman"/>
                </a:rPr>
                <a:t> 	A. Email from your manager about today's meeting </a:t>
              </a:r>
              <a:endParaRPr/>
            </a:p>
            <a:p>
              <a:pPr>
                <a:defRPr/>
              </a:pPr>
              <a:r>
                <a:rPr lang="en-US">
                  <a:latin typeface="Times New Roman"/>
                  <a:cs typeface="Times New Roman"/>
                </a:rPr>
                <a:t>	B. Urgent request to verify your account immediately </a:t>
              </a:r>
              <a:endParaRPr/>
            </a:p>
            <a:p>
              <a:pPr>
                <a:defRPr/>
              </a:pPr>
              <a:r>
                <a:rPr lang="en-US">
                  <a:latin typeface="Times New Roman"/>
                  <a:cs typeface="Times New Roman"/>
                </a:rPr>
                <a:t>	C. Newsletter you subscribed to </a:t>
              </a:r>
              <a:endParaRPr/>
            </a:p>
            <a:p>
              <a:pPr>
                <a:defRPr/>
              </a:pPr>
              <a:r>
                <a:rPr lang="en-US">
                  <a:latin typeface="Times New Roman"/>
                  <a:cs typeface="Times New Roman"/>
                </a:rPr>
                <a:t> 	D. Email from a trusted contact </a:t>
              </a:r>
              <a:endParaRPr/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284480" y="2418081"/>
              <a:ext cx="8961118" cy="1775472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en-US" sz="2000">
                  <a:latin typeface="Times New Roman"/>
                  <a:cs typeface="Times New Roman"/>
                </a:rPr>
                <a:t>2. </a:t>
              </a:r>
              <a:r>
                <a:rPr lang="en-US">
                  <a:latin typeface="Times New Roman"/>
                  <a:cs typeface="Times New Roman"/>
                </a:rPr>
                <a:t>Before clicking a link, you should: </a:t>
              </a:r>
              <a:endParaRPr/>
            </a:p>
            <a:p>
              <a:pPr>
                <a:defRPr/>
              </a:pPr>
              <a:endParaRPr lang="en-US">
                <a:latin typeface="Times New Roman"/>
                <a:cs typeface="Times New Roman"/>
              </a:endParaRPr>
            </a:p>
            <a:p>
              <a:pPr>
                <a:defRPr/>
              </a:pPr>
              <a:r>
                <a:rPr lang="en-US">
                  <a:latin typeface="Times New Roman"/>
                  <a:cs typeface="Times New Roman"/>
                </a:rPr>
                <a:t>	A. Click immediately if it looks familiar </a:t>
              </a:r>
              <a:endParaRPr/>
            </a:p>
            <a:p>
              <a:pPr>
                <a:defRPr/>
              </a:pPr>
              <a:r>
                <a:rPr lang="en-US">
                  <a:latin typeface="Times New Roman"/>
                  <a:cs typeface="Times New Roman"/>
                </a:rPr>
                <a:t>	B. Hover over the link to inspect the destination </a:t>
              </a:r>
              <a:endParaRPr/>
            </a:p>
            <a:p>
              <a:pPr>
                <a:defRPr/>
              </a:pPr>
              <a:r>
                <a:rPr lang="en-US">
                  <a:latin typeface="Times New Roman"/>
                  <a:cs typeface="Times New Roman"/>
                </a:rPr>
                <a:t>	C. Ignore the sender's address</a:t>
              </a:r>
              <a:endParaRPr/>
            </a:p>
            <a:p>
              <a:pPr>
                <a:defRPr/>
              </a:pPr>
              <a:r>
                <a:rPr lang="en-US">
                  <a:latin typeface="Times New Roman"/>
                  <a:cs typeface="Times New Roman"/>
                </a:rPr>
                <a:t>	D. Disable your antivirus </a:t>
              </a:r>
              <a:endParaRPr/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284479" y="4193553"/>
              <a:ext cx="8961120" cy="177547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>
                <a:defRPr/>
              </a:pPr>
              <a:r>
                <a:rPr lang="en-US" sz="2000">
                  <a:latin typeface="Times New Roman"/>
                  <a:cs typeface="Times New Roman"/>
                </a:rPr>
                <a:t>3</a:t>
              </a:r>
              <a:r>
                <a:rPr lang="en-US">
                  <a:latin typeface="Times New Roman"/>
                  <a:cs typeface="Times New Roman"/>
                </a:rPr>
                <a:t>. What is the safest action if you suspect an email is phishing?</a:t>
              </a:r>
              <a:endParaRPr/>
            </a:p>
            <a:p>
              <a:pPr>
                <a:defRPr/>
              </a:pPr>
              <a:r>
                <a:rPr lang="en-US">
                  <a:latin typeface="Times New Roman"/>
                  <a:cs typeface="Times New Roman"/>
                </a:rPr>
                <a:t> </a:t>
              </a:r>
              <a:endParaRPr/>
            </a:p>
            <a:p>
              <a:pPr>
                <a:defRPr/>
              </a:pPr>
              <a:r>
                <a:rPr lang="en-US">
                  <a:latin typeface="Times New Roman"/>
                  <a:cs typeface="Times New Roman"/>
                </a:rPr>
                <a:t>	A. Reply asking if it's real </a:t>
              </a:r>
              <a:endParaRPr/>
            </a:p>
            <a:p>
              <a:pPr>
                <a:defRPr/>
              </a:pPr>
              <a:r>
                <a:rPr lang="en-US">
                  <a:latin typeface="Times New Roman"/>
                  <a:cs typeface="Times New Roman"/>
                </a:rPr>
                <a:t>	B. Enter your password to check </a:t>
              </a:r>
              <a:endParaRPr/>
            </a:p>
            <a:p>
              <a:pPr>
                <a:defRPr/>
              </a:pPr>
              <a:r>
                <a:rPr lang="en-US">
                  <a:latin typeface="Times New Roman"/>
                  <a:cs typeface="Times New Roman"/>
                </a:rPr>
                <a:t>	C. Report the email and delete it </a:t>
              </a:r>
              <a:endParaRPr/>
            </a:p>
            <a:p>
              <a:pPr>
                <a:defRPr/>
              </a:pPr>
              <a:r>
                <a:rPr lang="en-US">
                  <a:latin typeface="Times New Roman"/>
                  <a:cs typeface="Times New Roman"/>
                </a:rPr>
                <a:t>	D. Forward it to everyone </a:t>
              </a:r>
              <a:endParaRPr/>
            </a:p>
          </p:txBody>
        </p:sp>
      </p:grpSp>
      <p:sp>
        <p:nvSpPr>
          <p:cNvPr id="897314386" name="Rectangle 14"/>
          <p:cNvSpPr/>
          <p:nvPr/>
        </p:nvSpPr>
        <p:spPr bwMode="auto">
          <a:xfrm>
            <a:off x="802640" y="6258560"/>
            <a:ext cx="7772400" cy="53848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>
                <a:solidFill>
                  <a:schemeClr val="bg1"/>
                </a:solidFill>
                <a:latin typeface="Times New Roman"/>
                <a:cs typeface="Times New Roman"/>
              </a:rPr>
              <a:t>💡 Pause the video and choose your answers before moving 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1250" advClick="1">
        <p:fade thruBlk="0"/>
      </p:transition>
    </mc:Choice>
    <mc:Fallback>
      <p:transition spd="slow" advClick="1">
        <p:fade thruBlk="0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4001687" name="Rectangle 6"/>
          <p:cNvSpPr/>
          <p:nvPr/>
        </p:nvSpPr>
        <p:spPr bwMode="auto">
          <a:xfrm>
            <a:off x="91440" y="4135119"/>
            <a:ext cx="8688765" cy="2567303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/>
            </a:pPr>
            <a:r>
              <a:rPr lang="en-US" sz="2400" b="1">
                <a:latin typeface="Times New Roman"/>
                <a:cs typeface="Times New Roman"/>
              </a:rPr>
              <a:t>🛡️ Remember: </a:t>
            </a:r>
            <a:endParaRPr/>
          </a:p>
          <a:p>
            <a:pPr>
              <a:defRPr/>
            </a:pPr>
            <a:endParaRPr lang="en-US" sz="2400" b="1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000">
                <a:latin typeface="Times New Roman"/>
                <a:cs typeface="Times New Roman"/>
              </a:rPr>
              <a:t>   🧠 Think Before You Click </a:t>
            </a:r>
            <a:endParaRPr/>
          </a:p>
          <a:p>
            <a:pPr>
              <a:defRPr/>
            </a:pPr>
            <a:r>
              <a:rPr lang="en-US" sz="2000">
                <a:latin typeface="Times New Roman"/>
                <a:cs typeface="Times New Roman"/>
              </a:rPr>
              <a:t>   📧 Verify the Sender </a:t>
            </a:r>
            <a:endParaRPr/>
          </a:p>
          <a:p>
            <a:pPr>
              <a:defRPr/>
            </a:pPr>
            <a:r>
              <a:rPr lang="en-US" sz="2000">
                <a:latin typeface="Times New Roman"/>
                <a:cs typeface="Times New Roman"/>
              </a:rPr>
              <a:t>   	Check Website URLs</a:t>
            </a:r>
            <a:endParaRPr/>
          </a:p>
          <a:p>
            <a:pPr>
              <a:defRPr/>
            </a:pPr>
            <a:r>
              <a:rPr lang="en-US" sz="2000">
                <a:latin typeface="Times New Roman"/>
                <a:cs typeface="Times New Roman"/>
              </a:rPr>
              <a:t>   🔐 Enable MFA </a:t>
            </a:r>
            <a:endParaRPr/>
          </a:p>
          <a:p>
            <a:pPr>
              <a:defRPr/>
            </a:pPr>
            <a:r>
              <a:rPr lang="en-US" sz="2000">
                <a:latin typeface="Times New Roman"/>
                <a:cs typeface="Times New Roman"/>
              </a:rPr>
              <a:t>   🚩 Report Suspicious Emails</a:t>
            </a:r>
            <a:endParaRPr/>
          </a:p>
        </p:txBody>
      </p:sp>
      <p:sp>
        <p:nvSpPr>
          <p:cNvPr id="1636375106" name="Rectangle 12"/>
          <p:cNvSpPr/>
          <p:nvPr/>
        </p:nvSpPr>
        <p:spPr bwMode="auto">
          <a:xfrm>
            <a:off x="91441" y="1005840"/>
            <a:ext cx="8688765" cy="3129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15702868" name="Title 2"/>
          <p:cNvSpPr>
            <a:spLocks noGrp="1"/>
          </p:cNvSpPr>
          <p:nvPr>
            <p:ph type="title" idx="4294967295"/>
          </p:nvPr>
        </p:nvSpPr>
        <p:spPr bwMode="auto">
          <a:xfrm>
            <a:off x="1544320" y="155577"/>
            <a:ext cx="7518400" cy="758823"/>
          </a:xfrm>
          <a:prstGeom prst="rect">
            <a:avLst/>
          </a:prstGeom>
          <a:solidFill>
            <a:srgbClr val="002060"/>
          </a:solidFill>
        </p:spPr>
        <p:txBody>
          <a:bodyPr>
            <a:normAutofit/>
          </a:bodyPr>
          <a:lstStyle/>
          <a:p>
            <a:pPr algn="ctr">
              <a:defRPr/>
            </a:pPr>
            <a:r>
              <a:rPr lang="en-US" b="1">
                <a:solidFill>
                  <a:schemeClr val="bg1"/>
                </a:solidFill>
                <a:latin typeface="Times New Roman"/>
                <a:cs typeface="Times New Roman"/>
              </a:rPr>
              <a:t>Quiz Answers &amp; Key Takeaways</a:t>
            </a:r>
            <a:endParaRPr/>
          </a:p>
        </p:txBody>
      </p:sp>
      <p:sp>
        <p:nvSpPr>
          <p:cNvPr id="2010589159" name="Rectangle 4"/>
          <p:cNvSpPr/>
          <p:nvPr/>
        </p:nvSpPr>
        <p:spPr bwMode="auto">
          <a:xfrm>
            <a:off x="91441" y="914400"/>
            <a:ext cx="8688765" cy="322072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/>
            </a:pPr>
            <a:r>
              <a:rPr lang="en-US" sz="2000" b="1">
                <a:latin typeface="Times New Roman"/>
                <a:cs typeface="Times New Roman"/>
              </a:rPr>
              <a:t>Question 1:</a:t>
            </a:r>
            <a:r>
              <a:rPr lang="en-US" sz="2000">
                <a:latin typeface="Times New Roman"/>
                <a:cs typeface="Times New Roman"/>
              </a:rPr>
              <a:t> B ✅</a:t>
            </a:r>
            <a:endParaRPr/>
          </a:p>
          <a:p>
            <a:pPr>
              <a:defRPr/>
            </a:pPr>
            <a:r>
              <a:rPr lang="en-US" sz="2000">
                <a:latin typeface="Times New Roman"/>
                <a:cs typeface="Times New Roman"/>
              </a:rPr>
              <a:t>Urgent requests to verify your account are a common phishing tactic. </a:t>
            </a:r>
            <a:endParaRPr/>
          </a:p>
          <a:p>
            <a:pPr>
              <a:defRPr/>
            </a:pPr>
            <a:endParaRPr lang="en-US" sz="200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000" b="1">
                <a:latin typeface="Times New Roman"/>
                <a:cs typeface="Times New Roman"/>
              </a:rPr>
              <a:t>Question 2: </a:t>
            </a:r>
            <a:r>
              <a:rPr lang="en-US" sz="2000">
                <a:latin typeface="Times New Roman"/>
                <a:cs typeface="Times New Roman"/>
              </a:rPr>
              <a:t>B ✅ </a:t>
            </a:r>
            <a:endParaRPr/>
          </a:p>
          <a:p>
            <a:pPr>
              <a:defRPr/>
            </a:pPr>
            <a:r>
              <a:rPr lang="en-US" sz="2000">
                <a:latin typeface="Times New Roman"/>
                <a:cs typeface="Times New Roman"/>
              </a:rPr>
              <a:t> Always hover over links to verify the destination before clicking. </a:t>
            </a:r>
            <a:endParaRPr/>
          </a:p>
          <a:p>
            <a:pPr>
              <a:defRPr/>
            </a:pPr>
            <a:endParaRPr lang="en-US" sz="2000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2000" b="1">
                <a:latin typeface="Times New Roman"/>
                <a:cs typeface="Times New Roman"/>
              </a:rPr>
              <a:t>Question 3: </a:t>
            </a:r>
            <a:r>
              <a:rPr lang="en-US" sz="2000">
                <a:latin typeface="Times New Roman"/>
                <a:cs typeface="Times New Roman"/>
              </a:rPr>
              <a:t>C ✅ </a:t>
            </a:r>
            <a:endParaRPr/>
          </a:p>
          <a:p>
            <a:pPr>
              <a:defRPr/>
            </a:pPr>
            <a:r>
              <a:rPr lang="en-US" sz="2000">
                <a:latin typeface="Times New Roman"/>
                <a:cs typeface="Times New Roman"/>
              </a:rPr>
              <a:t>Report suspicious emails and delete them. Never interact with phishing messages. </a:t>
            </a:r>
            <a:endParaRPr/>
          </a:p>
        </p:txBody>
      </p:sp>
      <p:pic>
        <p:nvPicPr>
          <p:cNvPr id="1259242992" name="Content Placeholder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564165" y="5153842"/>
            <a:ext cx="2274119" cy="1548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800" advClick="1">
        <p:fade thruBlk="0"/>
      </p:transition>
    </mc:Choice>
    <mc:Fallback>
      <p:transition spd="slow" advClick="1">
        <p:fade thruBlk="0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2377070" name="Title 6"/>
          <p:cNvSpPr>
            <a:spLocks noGrp="1"/>
          </p:cNvSpPr>
          <p:nvPr>
            <p:ph type="title"/>
          </p:nvPr>
        </p:nvSpPr>
        <p:spPr bwMode="auto">
          <a:xfrm>
            <a:off x="677334" y="294968"/>
            <a:ext cx="8596668" cy="865239"/>
          </a:xfrm>
        </p:spPr>
        <p:txBody>
          <a:bodyPr>
            <a:normAutofit fontScale="90000"/>
          </a:bodyPr>
          <a:lstStyle/>
          <a:p>
            <a:pPr algn="ctr">
              <a:defRPr/>
            </a:pPr>
            <a:r>
              <a:rPr lang="en-US" sz="4000" b="1">
                <a:latin typeface="Times New Roman"/>
                <a:cs typeface="Times New Roman"/>
              </a:rPr>
              <a:t>Thank You for Watching!</a:t>
            </a:r>
            <a:br>
              <a:rPr lang="en-US" sz="4000" b="1">
                <a:latin typeface="Times New Roman"/>
                <a:cs typeface="Times New Roman"/>
              </a:rPr>
            </a:br>
            <a:endParaRPr lang="en-US" sz="4000" b="1">
              <a:latin typeface="Times New Roman"/>
              <a:cs typeface="Times New Roman"/>
            </a:endParaRPr>
          </a:p>
        </p:txBody>
      </p:sp>
      <p:sp>
        <p:nvSpPr>
          <p:cNvPr id="343361816" name="Content Placeholder 7"/>
          <p:cNvSpPr>
            <a:spLocks noGrp="1"/>
          </p:cNvSpPr>
          <p:nvPr>
            <p:ph idx="1"/>
          </p:nvPr>
        </p:nvSpPr>
        <p:spPr bwMode="auto">
          <a:xfrm>
            <a:off x="677334" y="953729"/>
            <a:ext cx="8596668" cy="40607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 algn="ctr">
              <a:buNone/>
              <a:defRPr/>
            </a:pPr>
            <a:r>
              <a:rPr lang="en-US">
                <a:latin typeface="Times New Roman"/>
                <a:cs typeface="Times New Roman"/>
              </a:rPr>
              <a:t>Stay Alert. Stay Informed. Stay Secure.</a:t>
            </a:r>
            <a:endParaRPr/>
          </a:p>
          <a:p>
            <a:pPr marL="0" indent="0" algn="ctr">
              <a:buNone/>
              <a:defRPr/>
            </a:pPr>
            <a:endParaRPr lang="en-US">
              <a:latin typeface="Times New Roman"/>
              <a:cs typeface="Times New Roman"/>
            </a:endParaRPr>
          </a:p>
          <a:p>
            <a:pPr marL="0" indent="0" algn="ctr">
              <a:buNone/>
              <a:defRPr/>
            </a:pPr>
            <a:r>
              <a:rPr lang="en-US">
                <a:latin typeface="Times New Roman"/>
                <a:cs typeface="Times New Roman"/>
              </a:rPr>
              <a:t>Have a question or cybersecurity tip to share?</a:t>
            </a:r>
            <a:endParaRPr/>
          </a:p>
          <a:p>
            <a:pPr marL="0" indent="0" algn="ctr">
              <a:buNone/>
              <a:defRPr/>
            </a:pPr>
            <a:r>
              <a:rPr lang="en-US">
                <a:latin typeface="Times New Roman"/>
                <a:cs typeface="Times New Roman"/>
              </a:rPr>
              <a:t>Leave it in the comments below.</a:t>
            </a:r>
            <a:endParaRPr/>
          </a:p>
          <a:p>
            <a:pPr marL="0" indent="0" algn="ctr">
              <a:buNone/>
              <a:defRPr/>
            </a:pPr>
            <a:endParaRPr lang="en-US">
              <a:latin typeface="Times New Roman"/>
              <a:cs typeface="Times New Roman"/>
            </a:endParaRPr>
          </a:p>
          <a:p>
            <a:pPr marL="0" indent="0" algn="ctr">
              <a:buNone/>
              <a:defRPr/>
            </a:pPr>
            <a:r>
              <a:rPr lang="en-US">
                <a:latin typeface="Times New Roman"/>
                <a:cs typeface="Times New Roman"/>
              </a:rPr>
              <a:t>Let's learn and grow together!</a:t>
            </a:r>
            <a:endParaRPr/>
          </a:p>
          <a:p>
            <a:pPr marL="0" indent="0" algn="ctr">
              <a:buNone/>
              <a:defRPr/>
            </a:pPr>
            <a:endParaRPr lang="en-US">
              <a:latin typeface="Times New Roman"/>
              <a:cs typeface="Times New Roman"/>
            </a:endParaRPr>
          </a:p>
          <a:p>
            <a:pPr marL="0" indent="0" algn="ctr">
              <a:buNone/>
              <a:defRPr/>
            </a:pPr>
            <a:r>
              <a:rPr lang="en">
                <a:latin typeface="Times New Roman"/>
                <a:cs typeface="Times New Roman"/>
              </a:rPr>
              <a:t>Karl Seyram Dorpe</a:t>
            </a:r>
            <a:endParaRPr/>
          </a:p>
          <a:p>
            <a:pPr marL="0" indent="0" algn="ctr">
              <a:buNone/>
              <a:defRPr/>
            </a:pPr>
            <a:r>
              <a:rPr lang="en-US">
                <a:latin typeface="Times New Roman"/>
                <a:cs typeface="Times New Roman"/>
              </a:rPr>
              <a:t>CodeAlpha</a:t>
            </a:r>
            <a:r>
              <a:rPr lang="en-US">
                <a:latin typeface="Times New Roman"/>
                <a:cs typeface="Times New Roman"/>
              </a:rPr>
              <a:t> Cybersecurity Internship</a:t>
            </a:r>
            <a:endParaRPr/>
          </a:p>
          <a:p>
            <a:pPr marL="0" indent="0" algn="ctr">
              <a:buNone/>
              <a:defRPr/>
            </a:pPr>
            <a:r>
              <a:rPr lang="en">
                <a:latin typeface="Times New Roman"/>
                <a:cs typeface="Times New Roman"/>
              </a:rPr>
              <a:t>October</a:t>
            </a:r>
            <a:r>
              <a:rPr lang="en-US">
                <a:latin typeface="Times New Roman"/>
                <a:cs typeface="Times New Roman"/>
              </a:rPr>
              <a:t> 2026</a:t>
            </a:r>
            <a:endParaRPr/>
          </a:p>
          <a:p>
            <a:pPr marL="0" indent="0" algn="ctr">
              <a:buNone/>
              <a:defRPr/>
            </a:pPr>
            <a:endParaRPr lang="en-US">
              <a:latin typeface="Times New Roman"/>
              <a:cs typeface="Times New Roman"/>
            </a:endParaRPr>
          </a:p>
          <a:p>
            <a:pPr marL="0" indent="0" algn="ctr">
              <a:buNone/>
              <a:defRPr/>
            </a:pPr>
            <a:endParaRPr lang="en-US">
              <a:latin typeface="Times New Roman"/>
              <a:cs typeface="Times New Roman"/>
            </a:endParaRPr>
          </a:p>
        </p:txBody>
      </p:sp>
      <p:sp>
        <p:nvSpPr>
          <p:cNvPr id="1713965318" name="Rectangle 8"/>
          <p:cNvSpPr/>
          <p:nvPr/>
        </p:nvSpPr>
        <p:spPr bwMode="auto">
          <a:xfrm>
            <a:off x="1002890" y="5102942"/>
            <a:ext cx="7826478" cy="156332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/>
            </a:pPr>
            <a:r>
              <a:rPr lang="en-US" b="1">
                <a:latin typeface="Times New Roman"/>
                <a:cs typeface="Times New Roman"/>
              </a:rPr>
              <a:t>GitHub Portfolio:</a:t>
            </a:r>
            <a:endParaRPr/>
          </a:p>
          <a:p>
            <a:pPr>
              <a:defRPr/>
            </a:pPr>
            <a:r>
              <a:rPr lang="en-US" b="1">
                <a:latin typeface="Times New Roman"/>
                <a:cs typeface="Times New Roman"/>
              </a:rPr>
              <a:t>github.co</a:t>
            </a:r>
            <a:r>
              <a:rPr lang="en" b="1">
                <a:latin typeface="Times New Roman"/>
                <a:cs typeface="Times New Roman"/>
              </a:rPr>
              <a:t>m/hackura</a:t>
            </a:r>
            <a:endParaRPr/>
          </a:p>
          <a:p>
            <a:pPr>
              <a:defRPr/>
            </a:pPr>
            <a:endParaRPr lang="en-US" b="1"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b="1">
                <a:latin typeface="Times New Roman"/>
                <a:cs typeface="Times New Roman"/>
              </a:rPr>
              <a:t>LinkedIn:</a:t>
            </a:r>
            <a:endParaRPr/>
          </a:p>
          <a:p>
            <a:pPr>
              <a:defRPr/>
            </a:pPr>
            <a:r>
              <a:rPr lang="en-US" b="1">
                <a:latin typeface="Times New Roman"/>
                <a:cs typeface="Times New Roman"/>
              </a:rPr>
              <a:t>linkedin.com/in/</a:t>
            </a:r>
            <a:r>
              <a:rPr lang="en" b="1">
                <a:latin typeface="Times New Roman"/>
                <a:cs typeface="Times New Roman"/>
              </a:rPr>
              <a:t>karlseyramdorpe</a:t>
            </a:r>
            <a:endParaRPr/>
          </a:p>
        </p:txBody>
      </p:sp>
      <p:pic>
        <p:nvPicPr>
          <p:cNvPr id="2100381664" name="Content Placeholder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651111" y="5181600"/>
            <a:ext cx="2274119" cy="15485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800" advClick="1">
        <p:fade thruBlk="0"/>
      </p:transition>
    </mc:Choice>
    <mc:Fallback>
      <p:transition spd="slow" advClick="1">
        <p:fade thruBlk="0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Fac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/>
        <a:ea typeface="Arial"/>
        <a:cs typeface="Arial"/>
      </a:majorFont>
      <a:minorFont>
        <a:latin typeface="Trebuchet MS"/>
        <a:ea typeface="Arial"/>
        <a:cs typeface="Arial"/>
      </a:minorFont>
    </a:fontScheme>
    <a:fmtScheme name="Facet"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0</Words>
  <Application>ONLYOFFICE/9.4.0.129</Application>
  <PresentationFormat>On-screen Show (4:3)</PresentationFormat>
  <Paragraphs>0</Paragraphs>
  <Slides>13</Slides>
  <Notes>13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Miracle Godwin Ogbo</dc:creator>
  <cp:lastModifiedBy/>
  <cp:revision>8</cp:revision>
  <dcterms:created xsi:type="dcterms:W3CDTF">2026-07-13T13:27:39Z</dcterms:created>
  <dcterms:modified xsi:type="dcterms:W3CDTF">2026-10-06T22:13:25Z</dcterms:modified>
</cp:coreProperties>
</file>